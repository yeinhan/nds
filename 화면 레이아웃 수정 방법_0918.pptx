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62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142999" y="1874518"/>
            <a:ext cx="877824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91AFD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KSPO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차세대 경주운영관리시스템 </a:t>
            </a: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퍼블리싱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143000" y="2395727"/>
            <a:ext cx="9601200" cy="739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46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화면 레이아웃 수정 방법</a:t>
            </a:r>
          </a:p>
        </p:txBody>
      </p:sp>
      <p:sp>
        <p:nvSpPr>
          <p:cNvPr id="98" name="Rectangle 5"/>
          <p:cNvSpPr/>
          <p:nvPr/>
        </p:nvSpPr>
        <p:spPr>
          <a:xfrm>
            <a:off x="1161288" y="3858767"/>
            <a:ext cx="1371601" cy="50293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1143000" y="4224528"/>
            <a:ext cx="8961120" cy="61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5000"/>
              </a:lnSpc>
              <a:defRPr sz="1500">
                <a:solidFill>
                  <a:srgbClr val="BEDB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버티컬 레이아웃으로 작성된 기존 화면을 폼 레이아웃으로 전환해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5000"/>
              </a:lnSpc>
              <a:defRPr sz="1500">
                <a:solidFill>
                  <a:srgbClr val="BEDB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그리드가 화면을 꽉 채우도록 바꾸는 절차입니다</a:t>
            </a:r>
            <a:r>
              <a:t>.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1143000" y="5989320"/>
            <a:ext cx="54864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192D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2026-09-13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566927" y="475487"/>
            <a:ext cx="7315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REVISION HISTORY</a:t>
            </a:r>
          </a:p>
        </p:txBody>
      </p:sp>
      <p:sp>
        <p:nvSpPr>
          <p:cNvPr id="104" name="TextBox 3"/>
          <p:cNvSpPr txBox="1"/>
          <p:nvPr/>
        </p:nvSpPr>
        <p:spPr>
          <a:xfrm>
            <a:off x="566927" y="804672"/>
            <a:ext cx="8229601" cy="483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개정 이력</a:t>
            </a:r>
          </a:p>
        </p:txBody>
      </p:sp>
      <p:sp>
        <p:nvSpPr>
          <p:cNvPr id="105" name="Rectangle 8"/>
          <p:cNvSpPr/>
          <p:nvPr/>
        </p:nvSpPr>
        <p:spPr>
          <a:xfrm>
            <a:off x="571500" y="1689100"/>
            <a:ext cx="110617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Rectangle 10"/>
          <p:cNvSpPr/>
          <p:nvPr/>
        </p:nvSpPr>
        <p:spPr>
          <a:xfrm>
            <a:off x="952500" y="2349500"/>
            <a:ext cx="10299700" cy="310896"/>
          </a:xfrm>
          <a:prstGeom prst="rect">
            <a:avLst/>
          </a:prstGeom>
          <a:solidFill>
            <a:srgbClr val="162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11"/>
          <p:cNvSpPr txBox="1"/>
          <p:nvPr/>
        </p:nvSpPr>
        <p:spPr>
          <a:xfrm>
            <a:off x="1041400" y="2413000"/>
            <a:ext cx="889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버전</a:t>
            </a:r>
          </a:p>
        </p:txBody>
      </p:sp>
      <p:sp>
        <p:nvSpPr>
          <p:cNvPr id="108" name="TextBox 12"/>
          <p:cNvSpPr txBox="1"/>
          <p:nvPr/>
        </p:nvSpPr>
        <p:spPr>
          <a:xfrm>
            <a:off x="2095499" y="2413000"/>
            <a:ext cx="152400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일자</a:t>
            </a:r>
          </a:p>
        </p:txBody>
      </p:sp>
      <p:sp>
        <p:nvSpPr>
          <p:cNvPr id="109" name="TextBox 13"/>
          <p:cNvSpPr txBox="1"/>
          <p:nvPr/>
        </p:nvSpPr>
        <p:spPr>
          <a:xfrm>
            <a:off x="3809999" y="2413000"/>
            <a:ext cx="736600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내용</a:t>
            </a:r>
          </a:p>
        </p:txBody>
      </p:sp>
      <p:sp>
        <p:nvSpPr>
          <p:cNvPr id="110" name="Rectangle 15"/>
          <p:cNvSpPr/>
          <p:nvPr/>
        </p:nvSpPr>
        <p:spPr>
          <a:xfrm>
            <a:off x="952500" y="3048000"/>
            <a:ext cx="10299700" cy="12700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16"/>
          <p:cNvSpPr txBox="1"/>
          <p:nvPr/>
        </p:nvSpPr>
        <p:spPr>
          <a:xfrm>
            <a:off x="1041400" y="2755900"/>
            <a:ext cx="889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v1.0</a:t>
            </a:r>
          </a:p>
        </p:txBody>
      </p:sp>
      <p:sp>
        <p:nvSpPr>
          <p:cNvPr id="112" name="TextBox 17"/>
          <p:cNvSpPr txBox="1"/>
          <p:nvPr/>
        </p:nvSpPr>
        <p:spPr>
          <a:xfrm>
            <a:off x="2095499" y="2755900"/>
            <a:ext cx="152400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2026-09-13</a:t>
            </a:r>
          </a:p>
        </p:txBody>
      </p:sp>
      <p:sp>
        <p:nvSpPr>
          <p:cNvPr id="113" name="TextBox 18"/>
          <p:cNvSpPr txBox="1"/>
          <p:nvPr/>
        </p:nvSpPr>
        <p:spPr>
          <a:xfrm>
            <a:off x="3809999" y="2755900"/>
            <a:ext cx="7366001" cy="159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최초 작성 — 루트 컨테이너 · .content 폼 레이아웃 전환 절차와 예외 케이스</a:t>
            </a:r>
          </a:p>
        </p:txBody>
      </p:sp>
      <p:sp>
        <p:nvSpPr>
          <p:cNvPr id="114" name="Rectangle 20"/>
          <p:cNvSpPr/>
          <p:nvPr/>
        </p:nvSpPr>
        <p:spPr>
          <a:xfrm>
            <a:off x="952500" y="3048000"/>
            <a:ext cx="10299700" cy="384048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21"/>
          <p:cNvSpPr/>
          <p:nvPr/>
        </p:nvSpPr>
        <p:spPr>
          <a:xfrm>
            <a:off x="952500" y="3429000"/>
            <a:ext cx="10299700" cy="12700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2"/>
          <p:cNvSpPr txBox="1"/>
          <p:nvPr/>
        </p:nvSpPr>
        <p:spPr>
          <a:xfrm>
            <a:off x="1041400" y="3136900"/>
            <a:ext cx="889000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v1.1</a:t>
            </a:r>
          </a:p>
        </p:txBody>
      </p:sp>
      <p:sp>
        <p:nvSpPr>
          <p:cNvPr id="117" name="TextBox 23"/>
          <p:cNvSpPr txBox="1"/>
          <p:nvPr/>
        </p:nvSpPr>
        <p:spPr>
          <a:xfrm>
            <a:off x="2095499" y="3136900"/>
            <a:ext cx="152400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2026-09-18</a:t>
            </a:r>
          </a:p>
        </p:txBody>
      </p:sp>
      <p:sp>
        <p:nvSpPr>
          <p:cNvPr id="118" name="TextBox 24"/>
          <p:cNvSpPr txBox="1"/>
          <p:nvPr/>
        </p:nvSpPr>
        <p:spPr>
          <a:xfrm>
            <a:off x="3809999" y="3136900"/>
            <a:ext cx="7366001" cy="159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grpData 폼 레이아웃 전환 단계(STEP 09~11) 추가 · 이후 STEP 번호 12~18로 조정</a:t>
            </a:r>
          </a:p>
        </p:txBody>
      </p:sp>
      <p:sp>
        <p:nvSpPr>
          <p:cNvPr id="119" name="TextBox 32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화면 레이아웃 수정 방법</a:t>
            </a:r>
          </a:p>
        </p:txBody>
      </p:sp>
      <p:sp>
        <p:nvSpPr>
          <p:cNvPr id="120" name="TextBox 33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02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2"/>
          <p:cNvSpPr txBox="1"/>
          <p:nvPr/>
        </p:nvSpPr>
        <p:spPr>
          <a:xfrm>
            <a:off x="566927" y="475487"/>
            <a:ext cx="7315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124" name="TextBox 3"/>
          <p:cNvSpPr txBox="1"/>
          <p:nvPr/>
        </p:nvSpPr>
        <p:spPr>
          <a:xfrm>
            <a:off x="566927" y="804672"/>
            <a:ext cx="8229601" cy="483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무엇을 바꾸나</a:t>
            </a:r>
          </a:p>
        </p:txBody>
      </p:sp>
      <p:sp>
        <p:nvSpPr>
          <p:cNvPr id="125" name="Rectangle 4"/>
          <p:cNvSpPr/>
          <p:nvPr/>
        </p:nvSpPr>
        <p:spPr>
          <a:xfrm>
            <a:off x="566927" y="1691639"/>
            <a:ext cx="4617722" cy="1481329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5"/>
          <p:cNvSpPr txBox="1"/>
          <p:nvPr/>
        </p:nvSpPr>
        <p:spPr>
          <a:xfrm>
            <a:off x="841247" y="1929383"/>
            <a:ext cx="4114801" cy="905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AS-IS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버티컬 레이아웃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자식을 세로로 나열만 한다</a:t>
            </a:r>
            <a:r>
              <a:t>.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그리드가 내용만큼만 그려져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아래쪽에 빈 공간이 남는다</a:t>
            </a:r>
            <a:r>
              <a:t>.</a:t>
            </a:r>
          </a:p>
        </p:txBody>
      </p:sp>
      <p:sp>
        <p:nvSpPr>
          <p:cNvPr id="127" name="Rectangle 6"/>
          <p:cNvSpPr/>
          <p:nvPr/>
        </p:nvSpPr>
        <p:spPr>
          <a:xfrm>
            <a:off x="566927" y="3447288"/>
            <a:ext cx="4617722" cy="1481329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7"/>
          <p:cNvSpPr txBox="1"/>
          <p:nvPr/>
        </p:nvSpPr>
        <p:spPr>
          <a:xfrm>
            <a:off x="841247" y="3685032"/>
            <a:ext cx="4114801" cy="90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55DFC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TO-BE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 레이아웃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defRPr sz="13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높이를 직접 지정한다</a:t>
            </a:r>
            <a:r>
              <a:t>.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마지막 행을 </a:t>
            </a:r>
            <a:r>
              <a:t>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두면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defRPr sz="13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그리드가 남은 높이를 모두 채운다</a:t>
            </a:r>
            <a:r>
              <a:t>.</a:t>
            </a:r>
          </a:p>
        </p:txBody>
      </p:sp>
      <p:sp>
        <p:nvSpPr>
          <p:cNvPr id="129" name="Rectangle 8"/>
          <p:cNvSpPr/>
          <p:nvPr/>
        </p:nvSpPr>
        <p:spPr>
          <a:xfrm>
            <a:off x="5742432" y="1691639"/>
            <a:ext cx="5888736" cy="32369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9"/>
          <p:cNvSpPr txBox="1"/>
          <p:nvPr/>
        </p:nvSpPr>
        <p:spPr>
          <a:xfrm>
            <a:off x="6035040" y="1929383"/>
            <a:ext cx="53035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완성 구조 </a:t>
            </a:r>
            <a:r>
              <a:t>—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일반화면 기준</a:t>
            </a:r>
          </a:p>
        </p:txBody>
      </p:sp>
      <p:sp>
        <p:nvSpPr>
          <p:cNvPr id="131" name="Rectangle 10"/>
          <p:cNvSpPr/>
          <p:nvPr/>
        </p:nvSpPr>
        <p:spPr>
          <a:xfrm>
            <a:off x="6035040" y="2350007"/>
            <a:ext cx="5303521" cy="310897"/>
          </a:xfrm>
          <a:prstGeom prst="rect">
            <a:avLst/>
          </a:prstGeom>
          <a:solidFill>
            <a:srgbClr val="16255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11"/>
          <p:cNvSpPr txBox="1"/>
          <p:nvPr/>
        </p:nvSpPr>
        <p:spPr>
          <a:xfrm>
            <a:off x="6126479" y="2418588"/>
            <a:ext cx="12801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컨테이너</a:t>
            </a:r>
          </a:p>
        </p:txBody>
      </p:sp>
      <p:sp>
        <p:nvSpPr>
          <p:cNvPr id="133" name="TextBox 12"/>
          <p:cNvSpPr txBox="1"/>
          <p:nvPr/>
        </p:nvSpPr>
        <p:spPr>
          <a:xfrm>
            <a:off x="7498078" y="2418588"/>
            <a:ext cx="86868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간격 </a:t>
            </a:r>
            <a:r>
              <a:t>h/v</a:t>
            </a:r>
          </a:p>
        </p:txBody>
      </p:sp>
      <p:sp>
        <p:nvSpPr>
          <p:cNvPr id="134" name="TextBox 13"/>
          <p:cNvSpPr txBox="1"/>
          <p:nvPr/>
        </p:nvSpPr>
        <p:spPr>
          <a:xfrm>
            <a:off x="8458200" y="2418588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여백</a:t>
            </a:r>
          </a:p>
        </p:txBody>
      </p:sp>
      <p:sp>
        <p:nvSpPr>
          <p:cNvPr id="135" name="TextBox 14"/>
          <p:cNvSpPr txBox="1"/>
          <p:nvPr/>
        </p:nvSpPr>
        <p:spPr>
          <a:xfrm>
            <a:off x="9326880" y="2418588"/>
            <a:ext cx="201168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구성</a:t>
            </a:r>
          </a:p>
        </p:txBody>
      </p:sp>
      <p:sp>
        <p:nvSpPr>
          <p:cNvPr id="136" name="Rectangle 15"/>
          <p:cNvSpPr/>
          <p:nvPr/>
        </p:nvSpPr>
        <p:spPr>
          <a:xfrm>
            <a:off x="6035040" y="3042259"/>
            <a:ext cx="5303521" cy="12701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16"/>
          <p:cNvSpPr txBox="1"/>
          <p:nvPr/>
        </p:nvSpPr>
        <p:spPr>
          <a:xfrm>
            <a:off x="6126479" y="2756916"/>
            <a:ext cx="12801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</a:t>
            </a:r>
          </a:p>
        </p:txBody>
      </p:sp>
      <p:sp>
        <p:nvSpPr>
          <p:cNvPr id="138" name="TextBox 17"/>
          <p:cNvSpPr txBox="1"/>
          <p:nvPr/>
        </p:nvSpPr>
        <p:spPr>
          <a:xfrm>
            <a:off x="7498078" y="2756916"/>
            <a:ext cx="8686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 / 0</a:t>
            </a:r>
          </a:p>
        </p:txBody>
      </p:sp>
      <p:sp>
        <p:nvSpPr>
          <p:cNvPr id="139" name="TextBox 18"/>
          <p:cNvSpPr txBox="1"/>
          <p:nvPr/>
        </p:nvSpPr>
        <p:spPr>
          <a:xfrm>
            <a:off x="8458200" y="2756916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20 · 34</a:t>
            </a:r>
          </a:p>
        </p:txBody>
      </p:sp>
      <p:sp>
        <p:nvSpPr>
          <p:cNvPr id="140" name="TextBox 19"/>
          <p:cNvSpPr txBox="1"/>
          <p:nvPr/>
        </p:nvSpPr>
        <p:spPr>
          <a:xfrm>
            <a:off x="9326880" y="2756916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60a / 132a / 1fr</a:t>
            </a:r>
          </a:p>
        </p:txBody>
      </p:sp>
      <p:sp>
        <p:nvSpPr>
          <p:cNvPr id="141" name="Rectangle 20"/>
          <p:cNvSpPr/>
          <p:nvPr/>
        </p:nvSpPr>
        <p:spPr>
          <a:xfrm>
            <a:off x="6035040" y="3044951"/>
            <a:ext cx="5303521" cy="384049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21"/>
          <p:cNvSpPr/>
          <p:nvPr/>
        </p:nvSpPr>
        <p:spPr>
          <a:xfrm>
            <a:off x="6035040" y="3426307"/>
            <a:ext cx="5303521" cy="12701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2"/>
          <p:cNvSpPr txBox="1"/>
          <p:nvPr/>
        </p:nvSpPr>
        <p:spPr>
          <a:xfrm>
            <a:off x="6126479" y="3140964"/>
            <a:ext cx="12801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grpData</a:t>
            </a:r>
          </a:p>
        </p:txBody>
      </p:sp>
      <p:sp>
        <p:nvSpPr>
          <p:cNvPr id="144" name="TextBox 23"/>
          <p:cNvSpPr txBox="1"/>
          <p:nvPr/>
        </p:nvSpPr>
        <p:spPr>
          <a:xfrm>
            <a:off x="7498078" y="3140964"/>
            <a:ext cx="8686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 / 24</a:t>
            </a:r>
          </a:p>
        </p:txBody>
      </p:sp>
      <p:sp>
        <p:nvSpPr>
          <p:cNvPr id="145" name="TextBox 24"/>
          <p:cNvSpPr txBox="1"/>
          <p:nvPr/>
        </p:nvSpPr>
        <p:spPr>
          <a:xfrm>
            <a:off x="8458200" y="3140964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146" name="TextBox 25"/>
          <p:cNvSpPr txBox="1"/>
          <p:nvPr/>
        </p:nvSpPr>
        <p:spPr>
          <a:xfrm>
            <a:off x="9326880" y="3140964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1fr</a:t>
            </a:r>
          </a:p>
        </p:txBody>
      </p:sp>
      <p:sp>
        <p:nvSpPr>
          <p:cNvPr id="147" name="Rectangle 26"/>
          <p:cNvSpPr/>
          <p:nvPr/>
        </p:nvSpPr>
        <p:spPr>
          <a:xfrm>
            <a:off x="6035040" y="3810355"/>
            <a:ext cx="5303521" cy="12701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27"/>
          <p:cNvSpPr txBox="1"/>
          <p:nvPr/>
        </p:nvSpPr>
        <p:spPr>
          <a:xfrm>
            <a:off x="6126479" y="3525011"/>
            <a:ext cx="12801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.content</a:t>
            </a:r>
          </a:p>
        </p:txBody>
      </p:sp>
      <p:sp>
        <p:nvSpPr>
          <p:cNvPr id="149" name="TextBox 28"/>
          <p:cNvSpPr txBox="1"/>
          <p:nvPr/>
        </p:nvSpPr>
        <p:spPr>
          <a:xfrm>
            <a:off x="7498078" y="3525011"/>
            <a:ext cx="8686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24 / 18</a:t>
            </a:r>
          </a:p>
        </p:txBody>
      </p:sp>
      <p:sp>
        <p:nvSpPr>
          <p:cNvPr id="150" name="TextBox 29"/>
          <p:cNvSpPr txBox="1"/>
          <p:nvPr/>
        </p:nvSpPr>
        <p:spPr>
          <a:xfrm>
            <a:off x="8458200" y="3525011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151" name="TextBox 30"/>
          <p:cNvSpPr txBox="1"/>
          <p:nvPr/>
        </p:nvSpPr>
        <p:spPr>
          <a:xfrm>
            <a:off x="9326880" y="3525011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F3F4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36auto / 1fr</a:t>
            </a:r>
          </a:p>
        </p:txBody>
      </p:sp>
      <p:sp>
        <p:nvSpPr>
          <p:cNvPr id="152" name="TextBox 31"/>
          <p:cNvSpPr txBox="1"/>
          <p:nvPr/>
        </p:nvSpPr>
        <p:spPr>
          <a:xfrm>
            <a:off x="6035040" y="3904486"/>
            <a:ext cx="5303521" cy="848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적용 순서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40000"/>
              </a:lnSpc>
              <a:spcBef>
                <a:spcPts val="800"/>
              </a:spcBef>
              <a:defRPr b="1" sz="1300">
                <a:solidFill>
                  <a:srgbClr val="155DFC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 </a:t>
            </a:r>
            <a:r>
              <a:rPr b="0">
                <a:solidFill>
                  <a:srgbClr val="71717A"/>
                </a:solidFill>
              </a:rPr>
              <a:t>→ </a:t>
            </a:r>
            <a:r>
              <a:t>② grpData › .content </a:t>
            </a:r>
            <a:r>
              <a:rPr b="0">
                <a:solidFill>
                  <a:srgbClr val="71717A"/>
                </a:solidFill>
              </a:rPr>
              <a:t>→ </a:t>
            </a:r>
            <a:r>
              <a:t>③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접근성 정렬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40000"/>
              </a:lnSpc>
              <a:spcBef>
                <a:spcPts val="600"/>
              </a:spcBef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팝업</a:t>
            </a:r>
            <a:r>
              <a:t>·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버티컬 유지 화면의 예외는 마지막 장에 정리했습니다</a:t>
            </a:r>
            <a:r>
              <a:t>.</a:t>
            </a:r>
          </a:p>
        </p:txBody>
      </p:sp>
      <p:sp>
        <p:nvSpPr>
          <p:cNvPr id="153" name="TextBox 32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화면 레이아웃 수정 방법</a:t>
            </a:r>
          </a:p>
        </p:txBody>
      </p:sp>
      <p:sp>
        <p:nvSpPr>
          <p:cNvPr id="154" name="TextBox 33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03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01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158" name="TextBox 3"/>
          <p:cNvSpPr txBox="1"/>
          <p:nvPr/>
        </p:nvSpPr>
        <p:spPr>
          <a:xfrm>
            <a:off x="566927" y="758951"/>
            <a:ext cx="4663442" cy="869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컨테이너를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확인한다</a:t>
            </a:r>
          </a:p>
        </p:txBody>
      </p:sp>
      <p:sp>
        <p:nvSpPr>
          <p:cNvPr id="159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Outline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뷰에서 최상위 컨트롤의 레이아웃을 봅니다</a:t>
            </a:r>
            <a:r>
              <a:t>.</a:t>
            </a:r>
          </a:p>
        </p:txBody>
      </p:sp>
      <p:grpSp>
        <p:nvGrpSpPr>
          <p:cNvPr id="162" name="Rounded Rectangle 5"/>
          <p:cNvGrpSpPr/>
          <p:nvPr/>
        </p:nvGrpSpPr>
        <p:grpSpPr>
          <a:xfrm>
            <a:off x="566927" y="2615183"/>
            <a:ext cx="994410" cy="310897"/>
            <a:chOff x="0" y="0"/>
            <a:chExt cx="994408" cy="310895"/>
          </a:xfrm>
        </p:grpSpPr>
        <p:sp>
          <p:nvSpPr>
            <p:cNvPr id="160" name="모서리가 둥근 직사각형"/>
            <p:cNvSpPr/>
            <p:nvPr/>
          </p:nvSpPr>
          <p:spPr>
            <a:xfrm>
              <a:off x="0" y="0"/>
              <a:ext cx="994409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1" name="Outline 뷰"/>
            <p:cNvSpPr txBox="1"/>
            <p:nvPr/>
          </p:nvSpPr>
          <p:spPr>
            <a:xfrm>
              <a:off x="45738" y="74801"/>
              <a:ext cx="902933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Outline </a:t>
              </a: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뷰</a:t>
              </a:r>
            </a:p>
          </p:txBody>
        </p:sp>
      </p:grpSp>
      <p:sp>
        <p:nvSpPr>
          <p:cNvPr id="163" name="Oval 6"/>
          <p:cNvSpPr/>
          <p:nvPr/>
        </p:nvSpPr>
        <p:spPr>
          <a:xfrm>
            <a:off x="603504" y="3323844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7"/>
          <p:cNvSpPr txBox="1"/>
          <p:nvPr/>
        </p:nvSpPr>
        <p:spPr>
          <a:xfrm>
            <a:off x="841248" y="321868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레이아웃이 </a:t>
            </a:r>
            <a:r>
              <a:t>'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버티컬 레이아웃</a:t>
            </a:r>
            <a:r>
              <a:t>'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이면 전환 대상입니다</a:t>
            </a:r>
            <a:r>
              <a:t>.</a:t>
            </a:r>
          </a:p>
        </p:txBody>
      </p:sp>
      <p:sp>
        <p:nvSpPr>
          <p:cNvPr id="165" name="Oval 8"/>
          <p:cNvSpPr/>
          <p:nvPr/>
        </p:nvSpPr>
        <p:spPr>
          <a:xfrm>
            <a:off x="603504" y="3963923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9"/>
          <p:cNvSpPr txBox="1"/>
          <p:nvPr/>
        </p:nvSpPr>
        <p:spPr>
          <a:xfrm>
            <a:off x="841248" y="3858767"/>
            <a:ext cx="4251960" cy="46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자식은 </a:t>
            </a:r>
            <a:r>
              <a:t>grpAppHeader · grpHeader · grpData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세 그룹이 기본입니다</a:t>
            </a:r>
            <a:r>
              <a:t>.</a:t>
            </a:r>
          </a:p>
        </p:txBody>
      </p:sp>
      <p:pic>
        <p:nvPicPr>
          <p:cNvPr id="16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2120" y="1189521"/>
            <a:ext cx="6108192" cy="4616115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168" name="TextBox 11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169" name="TextBox 12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04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02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173" name="TextBox 3"/>
          <p:cNvSpPr txBox="1"/>
          <p:nvPr/>
        </p:nvSpPr>
        <p:spPr>
          <a:xfrm>
            <a:off x="566927" y="758951"/>
            <a:ext cx="4663442" cy="867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레이아웃을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 레이아웃으로 바꾼다</a:t>
            </a:r>
          </a:p>
        </p:txBody>
      </p:sp>
      <p:sp>
        <p:nvSpPr>
          <p:cNvPr id="174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컨테이너에서 우클릭 </a:t>
            </a:r>
            <a:r>
              <a:t>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 </a:t>
            </a:r>
            <a:r>
              <a:t>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 레이아웃</a:t>
            </a:r>
            <a:r>
              <a:t>.</a:t>
            </a:r>
          </a:p>
        </p:txBody>
      </p:sp>
      <p:grpSp>
        <p:nvGrpSpPr>
          <p:cNvPr id="177" name="Rounded Rectangle 5"/>
          <p:cNvGrpSpPr/>
          <p:nvPr/>
        </p:nvGrpSpPr>
        <p:grpSpPr>
          <a:xfrm>
            <a:off x="566927" y="2615183"/>
            <a:ext cx="674371" cy="310897"/>
            <a:chOff x="0" y="0"/>
            <a:chExt cx="674369" cy="310895"/>
          </a:xfrm>
        </p:grpSpPr>
        <p:sp>
          <p:nvSpPr>
            <p:cNvPr id="175" name="모서리가 둥근 직사각형"/>
            <p:cNvSpPr/>
            <p:nvPr/>
          </p:nvSpPr>
          <p:spPr>
            <a:xfrm>
              <a:off x="0" y="0"/>
              <a:ext cx="67437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6" name="우클릭"/>
            <p:cNvSpPr txBox="1"/>
            <p:nvPr/>
          </p:nvSpPr>
          <p:spPr>
            <a:xfrm>
              <a:off x="45738" y="79247"/>
              <a:ext cx="58289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우클릭</a:t>
              </a:r>
            </a:p>
          </p:txBody>
        </p:sp>
      </p:grpSp>
      <p:grpSp>
        <p:nvGrpSpPr>
          <p:cNvPr id="180" name="Rounded Rectangle 6"/>
          <p:cNvGrpSpPr/>
          <p:nvPr/>
        </p:nvGrpSpPr>
        <p:grpSpPr>
          <a:xfrm>
            <a:off x="1323594" y="2615183"/>
            <a:ext cx="807720" cy="310897"/>
            <a:chOff x="0" y="0"/>
            <a:chExt cx="807719" cy="310895"/>
          </a:xfrm>
        </p:grpSpPr>
        <p:sp>
          <p:nvSpPr>
            <p:cNvPr id="178" name="모서리가 둥근 직사각형"/>
            <p:cNvSpPr/>
            <p:nvPr/>
          </p:nvSpPr>
          <p:spPr>
            <a:xfrm>
              <a:off x="0" y="0"/>
              <a:ext cx="80772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9" name="레이아웃"/>
            <p:cNvSpPr txBox="1"/>
            <p:nvPr/>
          </p:nvSpPr>
          <p:spPr>
            <a:xfrm>
              <a:off x="45738" y="79247"/>
              <a:ext cx="71624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레이아웃</a:t>
              </a:r>
            </a:p>
          </p:txBody>
        </p:sp>
      </p:grpSp>
      <p:grpSp>
        <p:nvGrpSpPr>
          <p:cNvPr id="183" name="Rounded Rectangle 7"/>
          <p:cNvGrpSpPr/>
          <p:nvPr/>
        </p:nvGrpSpPr>
        <p:grpSpPr>
          <a:xfrm>
            <a:off x="2213610" y="2615183"/>
            <a:ext cx="1014413" cy="310897"/>
            <a:chOff x="0" y="0"/>
            <a:chExt cx="1014412" cy="310895"/>
          </a:xfrm>
        </p:grpSpPr>
        <p:sp>
          <p:nvSpPr>
            <p:cNvPr id="181" name="모서리가 둥근 직사각형"/>
            <p:cNvSpPr/>
            <p:nvPr/>
          </p:nvSpPr>
          <p:spPr>
            <a:xfrm>
              <a:off x="0" y="0"/>
              <a:ext cx="1014413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폼 레이아웃"/>
            <p:cNvSpPr txBox="1"/>
            <p:nvPr/>
          </p:nvSpPr>
          <p:spPr>
            <a:xfrm>
              <a:off x="45738" y="74801"/>
              <a:ext cx="922936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폼 레이아웃</a:t>
              </a:r>
            </a:p>
          </p:txBody>
        </p:sp>
      </p:grpSp>
      <p:sp>
        <p:nvSpPr>
          <p:cNvPr id="184" name="Oval 8"/>
          <p:cNvSpPr/>
          <p:nvPr/>
        </p:nvSpPr>
        <p:spPr>
          <a:xfrm>
            <a:off x="603504" y="3323844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9"/>
          <p:cNvSpPr txBox="1"/>
          <p:nvPr/>
        </p:nvSpPr>
        <p:spPr>
          <a:xfrm>
            <a:off x="841248" y="321868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Outline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또는 디자인 뷰 어느 쪽에서 해도 됩니다</a:t>
            </a:r>
            <a:r>
              <a:t>.</a:t>
            </a:r>
          </a:p>
        </p:txBody>
      </p:sp>
      <p:sp>
        <p:nvSpPr>
          <p:cNvPr id="186" name="Oval 10"/>
          <p:cNvSpPr/>
          <p:nvPr/>
        </p:nvSpPr>
        <p:spPr>
          <a:xfrm>
            <a:off x="603504" y="3717035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1"/>
          <p:cNvSpPr txBox="1"/>
          <p:nvPr/>
        </p:nvSpPr>
        <p:spPr>
          <a:xfrm>
            <a:off x="841248" y="3611879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현재 체크는 버티컬 레이아웃에 있습니다</a:t>
            </a:r>
            <a:r>
              <a:t>.</a:t>
            </a:r>
          </a:p>
        </p:txBody>
      </p:sp>
      <p:sp>
        <p:nvSpPr>
          <p:cNvPr id="188" name="Rectangle 12"/>
          <p:cNvSpPr/>
          <p:nvPr/>
        </p:nvSpPr>
        <p:spPr>
          <a:xfrm>
            <a:off x="566928" y="4114800"/>
            <a:ext cx="4526280" cy="27432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3"/>
          <p:cNvSpPr txBox="1"/>
          <p:nvPr/>
        </p:nvSpPr>
        <p:spPr>
          <a:xfrm>
            <a:off x="566928" y="4297679"/>
            <a:ext cx="452628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일반화면 기준입니다</a:t>
            </a:r>
            <a:r>
              <a:t>.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팝업도 방식은 같습니다</a:t>
            </a:r>
            <a:r>
              <a:t>.</a:t>
            </a:r>
          </a:p>
        </p:txBody>
      </p:sp>
      <p:pic>
        <p:nvPicPr>
          <p:cNvPr id="190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76842" y="960119"/>
            <a:ext cx="4618748" cy="5074922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191" name="TextBox 15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192" name="TextBox 16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05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03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196" name="TextBox 3"/>
          <p:cNvSpPr txBox="1"/>
          <p:nvPr/>
        </p:nvSpPr>
        <p:spPr>
          <a:xfrm>
            <a:off x="566927" y="786383"/>
            <a:ext cx="7994906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행을 </a:t>
            </a:r>
            <a:r>
              <a:t>3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개로 만든다</a:t>
            </a:r>
          </a:p>
        </p:txBody>
      </p:sp>
      <p:sp>
        <p:nvSpPr>
          <p:cNvPr id="197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새 폼 레이아웃 대화상자에서 구획 수와 간격을 지정합니다</a:t>
            </a:r>
            <a:r>
              <a:t>.</a:t>
            </a:r>
          </a:p>
        </p:txBody>
      </p:sp>
      <p:grpSp>
        <p:nvGrpSpPr>
          <p:cNvPr id="200" name="Rounded Rectangle 5"/>
          <p:cNvGrpSpPr/>
          <p:nvPr/>
        </p:nvGrpSpPr>
        <p:grpSpPr>
          <a:xfrm>
            <a:off x="8817864" y="804672"/>
            <a:ext cx="554356" cy="310897"/>
            <a:chOff x="0" y="0"/>
            <a:chExt cx="554355" cy="310895"/>
          </a:xfrm>
        </p:grpSpPr>
        <p:sp>
          <p:nvSpPr>
            <p:cNvPr id="198" name="모서리가 둥근 직사각형"/>
            <p:cNvSpPr/>
            <p:nvPr/>
          </p:nvSpPr>
          <p:spPr>
            <a:xfrm>
              <a:off x="0" y="0"/>
              <a:ext cx="554356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9" name="열 1"/>
            <p:cNvSpPr txBox="1"/>
            <p:nvPr/>
          </p:nvSpPr>
          <p:spPr>
            <a:xfrm>
              <a:off x="45738" y="74801"/>
              <a:ext cx="462879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열 </a:t>
              </a:r>
              <a:r>
                <a:t>1</a:t>
              </a:r>
            </a:p>
          </p:txBody>
        </p:sp>
      </p:grpSp>
      <p:grpSp>
        <p:nvGrpSpPr>
          <p:cNvPr id="203" name="Rounded Rectangle 6"/>
          <p:cNvGrpSpPr/>
          <p:nvPr/>
        </p:nvGrpSpPr>
        <p:grpSpPr>
          <a:xfrm>
            <a:off x="9454515" y="804672"/>
            <a:ext cx="554356" cy="310897"/>
            <a:chOff x="0" y="0"/>
            <a:chExt cx="554355" cy="310895"/>
          </a:xfrm>
        </p:grpSpPr>
        <p:sp>
          <p:nvSpPr>
            <p:cNvPr id="201" name="모서리가 둥근 직사각형"/>
            <p:cNvSpPr/>
            <p:nvPr/>
          </p:nvSpPr>
          <p:spPr>
            <a:xfrm>
              <a:off x="0" y="0"/>
              <a:ext cx="554356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행 3"/>
            <p:cNvSpPr txBox="1"/>
            <p:nvPr/>
          </p:nvSpPr>
          <p:spPr>
            <a:xfrm>
              <a:off x="45738" y="74801"/>
              <a:ext cx="462879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행 </a:t>
              </a:r>
              <a:r>
                <a:t>3</a:t>
              </a:r>
            </a:p>
          </p:txBody>
        </p:sp>
      </p:grpSp>
      <p:grpSp>
        <p:nvGrpSpPr>
          <p:cNvPr id="206" name="Rounded Rectangle 7"/>
          <p:cNvGrpSpPr/>
          <p:nvPr/>
        </p:nvGrpSpPr>
        <p:grpSpPr>
          <a:xfrm>
            <a:off x="10091166" y="804672"/>
            <a:ext cx="687705" cy="310897"/>
            <a:chOff x="0" y="0"/>
            <a:chExt cx="687704" cy="310895"/>
          </a:xfrm>
        </p:grpSpPr>
        <p:sp>
          <p:nvSpPr>
            <p:cNvPr id="204" name="모서리가 둥근 직사각형"/>
            <p:cNvSpPr/>
            <p:nvPr/>
          </p:nvSpPr>
          <p:spPr>
            <a:xfrm>
              <a:off x="0" y="0"/>
              <a:ext cx="687705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여백 0"/>
            <p:cNvSpPr txBox="1"/>
            <p:nvPr/>
          </p:nvSpPr>
          <p:spPr>
            <a:xfrm>
              <a:off x="45738" y="74801"/>
              <a:ext cx="596228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여백 </a:t>
              </a:r>
              <a:r>
                <a:t>0</a:t>
              </a:r>
            </a:p>
          </p:txBody>
        </p:sp>
      </p:grpSp>
      <p:grpSp>
        <p:nvGrpSpPr>
          <p:cNvPr id="209" name="Rounded Rectangle 8"/>
          <p:cNvGrpSpPr/>
          <p:nvPr/>
        </p:nvGrpSpPr>
        <p:grpSpPr>
          <a:xfrm>
            <a:off x="10861167" y="804672"/>
            <a:ext cx="687705" cy="310897"/>
            <a:chOff x="0" y="0"/>
            <a:chExt cx="687704" cy="310895"/>
          </a:xfrm>
        </p:grpSpPr>
        <p:sp>
          <p:nvSpPr>
            <p:cNvPr id="207" name="모서리가 둥근 직사각형"/>
            <p:cNvSpPr/>
            <p:nvPr/>
          </p:nvSpPr>
          <p:spPr>
            <a:xfrm>
              <a:off x="0" y="0"/>
              <a:ext cx="687705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8" name="간격 0"/>
            <p:cNvSpPr txBox="1"/>
            <p:nvPr/>
          </p:nvSpPr>
          <p:spPr>
            <a:xfrm>
              <a:off x="45738" y="74801"/>
              <a:ext cx="596228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간격 </a:t>
              </a:r>
              <a:r>
                <a:t>0</a:t>
              </a:r>
            </a:p>
          </p:txBody>
        </p:sp>
      </p:grpSp>
      <p:sp>
        <p:nvSpPr>
          <p:cNvPr id="210" name="TextBox 9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열 </a:t>
            </a:r>
            <a:r>
              <a:t>1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</a:t>
            </a:r>
            <a:r>
              <a:t>3 —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앱헤더 </a:t>
            </a:r>
            <a:r>
              <a:t>/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조회 </a:t>
            </a:r>
            <a:r>
              <a:t>/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바디    </a:t>
            </a: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여백 </a:t>
            </a:r>
            <a:r>
              <a:t>0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간격 </a:t>
            </a:r>
            <a:r>
              <a:t>0 —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루트는 간격을 두지 않습니다</a:t>
            </a:r>
            <a:r>
              <a:t>.</a:t>
            </a:r>
          </a:p>
        </p:txBody>
      </p:sp>
      <p:pic>
        <p:nvPicPr>
          <p:cNvPr id="21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8898" y="2121407"/>
            <a:ext cx="9520297" cy="4023360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212" name="TextBox 11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13" name="TextBox 12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06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04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17" name="TextBox 3"/>
          <p:cNvSpPr txBox="1"/>
          <p:nvPr/>
        </p:nvSpPr>
        <p:spPr>
          <a:xfrm>
            <a:off x="566927" y="786383"/>
            <a:ext cx="9258111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3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개 행이 </a:t>
            </a:r>
            <a:r>
              <a:t>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만들어진 것을 확인한다</a:t>
            </a:r>
          </a:p>
        </p:txBody>
      </p:sp>
      <p:grpSp>
        <p:nvGrpSpPr>
          <p:cNvPr id="220" name="Rounded Rectangle 4"/>
          <p:cNvGrpSpPr/>
          <p:nvPr/>
        </p:nvGrpSpPr>
        <p:grpSpPr>
          <a:xfrm>
            <a:off x="10081069" y="804672"/>
            <a:ext cx="1467803" cy="310897"/>
            <a:chOff x="0" y="0"/>
            <a:chExt cx="1467801" cy="310895"/>
          </a:xfrm>
        </p:grpSpPr>
        <p:sp>
          <p:nvSpPr>
            <p:cNvPr id="218" name="모서리가 둥근 직사각형"/>
            <p:cNvSpPr/>
            <p:nvPr/>
          </p:nvSpPr>
          <p:spPr>
            <a:xfrm>
              <a:off x="0" y="0"/>
              <a:ext cx="1467802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9" name="기본값 1 fr × 3행"/>
            <p:cNvSpPr txBox="1"/>
            <p:nvPr/>
          </p:nvSpPr>
          <p:spPr>
            <a:xfrm>
              <a:off x="45738" y="74801"/>
              <a:ext cx="1376326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기본값 </a:t>
              </a:r>
              <a:r>
                <a:t>1 fr × 3</a:t>
              </a: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행</a:t>
              </a:r>
            </a:p>
          </p:txBody>
        </p:sp>
      </p:grpSp>
      <p:pic>
        <p:nvPicPr>
          <p:cNvPr id="22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4673" y="1874518"/>
            <a:ext cx="8588749" cy="4270249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222" name="TextBox 6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23" name="TextBox 7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07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E6A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KEY CONCEPT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   행 높이를 지정하기 전에</a:t>
            </a:r>
          </a:p>
        </p:txBody>
      </p:sp>
      <p:sp>
        <p:nvSpPr>
          <p:cNvPr id="227" name="TextBox 3"/>
          <p:cNvSpPr txBox="1"/>
          <p:nvPr/>
        </p:nvSpPr>
        <p:spPr>
          <a:xfrm>
            <a:off x="566927" y="786383"/>
            <a:ext cx="8229601" cy="483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사용이란</a:t>
            </a:r>
          </a:p>
        </p:txBody>
      </p:sp>
      <p:pic>
        <p:nvPicPr>
          <p:cNvPr id="22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927" y="1507635"/>
            <a:ext cx="6035042" cy="633184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229" name="Rounded Rectangle 5"/>
          <p:cNvSpPr/>
          <p:nvPr/>
        </p:nvSpPr>
        <p:spPr>
          <a:xfrm>
            <a:off x="4462271" y="1611905"/>
            <a:ext cx="1726571" cy="423378"/>
          </a:xfrm>
          <a:prstGeom prst="roundRect">
            <a:avLst>
              <a:gd name="adj" fmla="val 20000"/>
            </a:avLst>
          </a:prstGeom>
          <a:ln w="31750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Rectangle 6"/>
          <p:cNvSpPr/>
          <p:nvPr/>
        </p:nvSpPr>
        <p:spPr>
          <a:xfrm>
            <a:off x="566927" y="2395727"/>
            <a:ext cx="11064242" cy="786386"/>
          </a:xfrm>
          <a:prstGeom prst="rect">
            <a:avLst/>
          </a:prstGeom>
          <a:solidFill>
            <a:srgbClr val="FEFAEB"/>
          </a:solidFill>
          <a:ln w="12700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ectangle 7"/>
          <p:cNvSpPr/>
          <p:nvPr/>
        </p:nvSpPr>
        <p:spPr>
          <a:xfrm>
            <a:off x="566927" y="2395727"/>
            <a:ext cx="64009" cy="786386"/>
          </a:xfrm>
          <a:prstGeom prst="rect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TextBox 8"/>
          <p:cNvSpPr txBox="1"/>
          <p:nvPr/>
        </p:nvSpPr>
        <p:spPr>
          <a:xfrm>
            <a:off x="932688" y="2702177"/>
            <a:ext cx="1042416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입력한 </a:t>
            </a:r>
            <a:r>
              <a:t>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는 </a:t>
            </a:r>
            <a:r>
              <a:rPr b="1">
                <a:solidFill>
                  <a:srgbClr val="8E6A00"/>
                </a:solidFill>
                <a:latin typeface="맑은 고딕"/>
                <a:ea typeface="맑은 고딕"/>
                <a:cs typeface="맑은 고딕"/>
                <a:sym typeface="맑은 고딕"/>
              </a:rPr>
              <a:t>디자인 편집기에서 보이는 높이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 일 뿐입니다</a:t>
            </a:r>
            <a:r>
              <a:t>.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실제 렌더링에서는 그 행의 </a:t>
            </a:r>
            <a:r>
              <a:rPr b="1">
                <a:solidFill>
                  <a:srgbClr val="8E6A00"/>
                </a:solidFill>
                <a:latin typeface="맑은 고딕"/>
                <a:ea typeface="맑은 고딕"/>
                <a:cs typeface="맑은 고딕"/>
                <a:sym typeface="맑은 고딕"/>
              </a:rPr>
              <a:t>내용 높이에 맞춰 자동으로 계산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 됩니다</a:t>
            </a:r>
            <a:r>
              <a:t>.</a:t>
            </a:r>
          </a:p>
        </p:txBody>
      </p:sp>
      <p:sp>
        <p:nvSpPr>
          <p:cNvPr id="233" name="Rectangle 9"/>
          <p:cNvSpPr/>
          <p:nvPr/>
        </p:nvSpPr>
        <p:spPr>
          <a:xfrm>
            <a:off x="566927" y="3438144"/>
            <a:ext cx="5486401" cy="1389889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0"/>
          <p:cNvSpPr txBox="1"/>
          <p:nvPr/>
        </p:nvSpPr>
        <p:spPr>
          <a:xfrm>
            <a:off x="877823" y="3657600"/>
            <a:ext cx="4937762" cy="758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55DFC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체크 </a:t>
            </a:r>
            <a:r>
              <a:t>O  — 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표준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45000"/>
              </a:lnSpc>
              <a:spcBef>
                <a:spcPts val="800"/>
              </a:spcBef>
              <a:defRPr sz="12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편집기에서는 </a:t>
            </a:r>
            <a:r>
              <a:t>60px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보이지만</a:t>
            </a:r>
            <a:r>
              <a:t>,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브라우저에서는 앱헤더가 실제로 차지하는 높이만큼만 잡힙니다</a:t>
            </a:r>
            <a:r>
              <a:t>.</a:t>
            </a:r>
          </a:p>
        </p:txBody>
      </p:sp>
      <p:sp>
        <p:nvSpPr>
          <p:cNvPr id="235" name="Rectangle 11"/>
          <p:cNvSpPr/>
          <p:nvPr/>
        </p:nvSpPr>
        <p:spPr>
          <a:xfrm>
            <a:off x="6144767" y="3438144"/>
            <a:ext cx="5486401" cy="1389889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12"/>
          <p:cNvSpPr txBox="1"/>
          <p:nvPr/>
        </p:nvSpPr>
        <p:spPr>
          <a:xfrm>
            <a:off x="6455664" y="3657600"/>
            <a:ext cx="4937761" cy="758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체크 </a:t>
            </a:r>
            <a:r>
              <a:t>X  — 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고정 높이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45000"/>
              </a:lnSpc>
              <a:spcBef>
                <a:spcPts val="800"/>
              </a:spcBef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60px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가 그대로 고정됩니다</a:t>
            </a:r>
            <a:r>
              <a:t>.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내용이 없거나 줄어도 그 높이가 남아 빈 공간이 생깁니다</a:t>
            </a:r>
            <a:r>
              <a:t>.</a:t>
            </a:r>
          </a:p>
        </p:txBody>
      </p:sp>
      <p:sp>
        <p:nvSpPr>
          <p:cNvPr id="237" name="TextBox 13"/>
          <p:cNvSpPr txBox="1"/>
          <p:nvPr/>
        </p:nvSpPr>
        <p:spPr>
          <a:xfrm>
            <a:off x="566927" y="4992623"/>
            <a:ext cx="110642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그래서 이렇게 동작합니다</a:t>
            </a:r>
          </a:p>
        </p:txBody>
      </p:sp>
      <p:sp>
        <p:nvSpPr>
          <p:cNvPr id="238" name="Oval 14"/>
          <p:cNvSpPr/>
          <p:nvPr/>
        </p:nvSpPr>
        <p:spPr>
          <a:xfrm>
            <a:off x="603504" y="5417820"/>
            <a:ext cx="73153" cy="73153"/>
          </a:xfrm>
          <a:prstGeom prst="ellipse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15"/>
          <p:cNvSpPr txBox="1"/>
          <p:nvPr/>
        </p:nvSpPr>
        <p:spPr>
          <a:xfrm>
            <a:off x="841247" y="5321808"/>
            <a:ext cx="107899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앱헤더를 쓰지 않는 화면</a:t>
            </a:r>
            <a:r>
              <a:t>(visible=false)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에서 </a:t>
            </a:r>
            <a:r>
              <a:t>1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</a:t>
            </a:r>
            <a:r>
              <a:t>60px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자리가 빈칸으로 남지 않습니다</a:t>
            </a:r>
            <a:r>
              <a:t>.</a:t>
            </a:r>
          </a:p>
        </p:txBody>
      </p:sp>
      <p:sp>
        <p:nvSpPr>
          <p:cNvPr id="240" name="Oval 16"/>
          <p:cNvSpPr/>
          <p:nvPr/>
        </p:nvSpPr>
        <p:spPr>
          <a:xfrm>
            <a:off x="603504" y="5701284"/>
            <a:ext cx="73153" cy="73153"/>
          </a:xfrm>
          <a:prstGeom prst="ellipse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17"/>
          <p:cNvSpPr txBox="1"/>
          <p:nvPr/>
        </p:nvSpPr>
        <p:spPr>
          <a:xfrm>
            <a:off x="841247" y="5605271"/>
            <a:ext cx="107899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조회조건이 한 줄인 화면에서 </a:t>
            </a:r>
            <a:r>
              <a:t>2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행이 </a:t>
            </a:r>
            <a:r>
              <a:t>132px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만큼 벌어지지 않습니다</a:t>
            </a:r>
            <a:r>
              <a:t>.</a:t>
            </a:r>
          </a:p>
        </p:txBody>
      </p:sp>
      <p:sp>
        <p:nvSpPr>
          <p:cNvPr id="242" name="Oval 18"/>
          <p:cNvSpPr/>
          <p:nvPr/>
        </p:nvSpPr>
        <p:spPr>
          <a:xfrm>
            <a:off x="603504" y="5984747"/>
            <a:ext cx="73153" cy="73153"/>
          </a:xfrm>
          <a:prstGeom prst="ellipse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9"/>
          <p:cNvSpPr txBox="1"/>
          <p:nvPr/>
        </p:nvSpPr>
        <p:spPr>
          <a:xfrm>
            <a:off x="841247" y="5888735"/>
            <a:ext cx="107899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타이틀을 숨긴 </a:t>
            </a:r>
            <a:r>
              <a:t>.content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에서 </a:t>
            </a:r>
            <a:r>
              <a:t>36px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자리가 남지 않습니다</a:t>
            </a:r>
            <a:r>
              <a:t>.</a:t>
            </a:r>
          </a:p>
        </p:txBody>
      </p:sp>
      <p:sp>
        <p:nvSpPr>
          <p:cNvPr id="244" name="TextBox 20"/>
          <p:cNvSpPr txBox="1"/>
          <p:nvPr/>
        </p:nvSpPr>
        <p:spPr>
          <a:xfrm>
            <a:off x="566927" y="6327647"/>
            <a:ext cx="8229601" cy="16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행에는 해당하지 않습니다 </a:t>
            </a:r>
            <a:r>
              <a:t>—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단위를 </a:t>
            </a:r>
            <a:r>
              <a:t>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바꾸면 자동 크기 체크박스 자체가 사라집니다</a:t>
            </a:r>
            <a:r>
              <a:t>.</a:t>
            </a:r>
          </a:p>
        </p:txBody>
      </p:sp>
      <p:sp>
        <p:nvSpPr>
          <p:cNvPr id="245" name="TextBox 21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08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05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49" name="TextBox 3"/>
          <p:cNvSpPr txBox="1"/>
          <p:nvPr/>
        </p:nvSpPr>
        <p:spPr>
          <a:xfrm>
            <a:off x="566928" y="786383"/>
            <a:ext cx="7684769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1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높이를 </a:t>
            </a:r>
            <a:r>
              <a:t>60px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지정한다</a:t>
            </a:r>
          </a:p>
        </p:txBody>
      </p:sp>
      <p:sp>
        <p:nvSpPr>
          <p:cNvPr id="250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구획을 더블클릭하면 폼 레이아웃 구획 변경 창이 열립니다</a:t>
            </a:r>
            <a:r>
              <a:t>.</a:t>
            </a:r>
          </a:p>
        </p:txBody>
      </p:sp>
      <p:grpSp>
        <p:nvGrpSpPr>
          <p:cNvPr id="253" name="Rounded Rectangle 5"/>
          <p:cNvGrpSpPr/>
          <p:nvPr/>
        </p:nvGrpSpPr>
        <p:grpSpPr>
          <a:xfrm>
            <a:off x="8507730" y="804672"/>
            <a:ext cx="807721" cy="310897"/>
            <a:chOff x="0" y="0"/>
            <a:chExt cx="807719" cy="310895"/>
          </a:xfrm>
        </p:grpSpPr>
        <p:sp>
          <p:nvSpPr>
            <p:cNvPr id="251" name="모서리가 둥근 직사각형"/>
            <p:cNvSpPr/>
            <p:nvPr/>
          </p:nvSpPr>
          <p:spPr>
            <a:xfrm>
              <a:off x="0" y="0"/>
              <a:ext cx="80772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2" name="더블클릭"/>
            <p:cNvSpPr txBox="1"/>
            <p:nvPr/>
          </p:nvSpPr>
          <p:spPr>
            <a:xfrm>
              <a:off x="45738" y="79247"/>
              <a:ext cx="71624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더블클릭</a:t>
              </a:r>
            </a:p>
          </p:txBody>
        </p:sp>
      </p:grpSp>
      <p:grpSp>
        <p:nvGrpSpPr>
          <p:cNvPr id="256" name="Rounded Rectangle 6"/>
          <p:cNvGrpSpPr/>
          <p:nvPr/>
        </p:nvGrpSpPr>
        <p:grpSpPr>
          <a:xfrm>
            <a:off x="9397745" y="804672"/>
            <a:ext cx="641033" cy="310897"/>
            <a:chOff x="0" y="0"/>
            <a:chExt cx="641031" cy="310895"/>
          </a:xfrm>
        </p:grpSpPr>
        <p:sp>
          <p:nvSpPr>
            <p:cNvPr id="254" name="모서리가 둥근 직사각형"/>
            <p:cNvSpPr/>
            <p:nvPr/>
          </p:nvSpPr>
          <p:spPr>
            <a:xfrm>
              <a:off x="0" y="0"/>
              <a:ext cx="641032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5" name="60 PX"/>
            <p:cNvSpPr txBox="1"/>
            <p:nvPr/>
          </p:nvSpPr>
          <p:spPr>
            <a:xfrm>
              <a:off x="45738" y="79247"/>
              <a:ext cx="54955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60 PX</a:t>
              </a:r>
            </a:p>
          </p:txBody>
        </p:sp>
      </p:grpSp>
      <p:grpSp>
        <p:nvGrpSpPr>
          <p:cNvPr id="259" name="Rounded Rectangle 7"/>
          <p:cNvGrpSpPr/>
          <p:nvPr/>
        </p:nvGrpSpPr>
        <p:grpSpPr>
          <a:xfrm>
            <a:off x="10121073" y="804672"/>
            <a:ext cx="1427798" cy="310897"/>
            <a:chOff x="0" y="0"/>
            <a:chExt cx="1427796" cy="310895"/>
          </a:xfrm>
        </p:grpSpPr>
        <p:sp>
          <p:nvSpPr>
            <p:cNvPr id="257" name="모서리가 둥근 직사각형"/>
            <p:cNvSpPr/>
            <p:nvPr/>
          </p:nvSpPr>
          <p:spPr>
            <a:xfrm>
              <a:off x="0" y="0"/>
              <a:ext cx="1427797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8" name="자동 크기 사용 ✓"/>
            <p:cNvSpPr txBox="1"/>
            <p:nvPr/>
          </p:nvSpPr>
          <p:spPr>
            <a:xfrm>
              <a:off x="45738" y="73592"/>
              <a:ext cx="1336321" cy="163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자동 크기 사용 ✓</a:t>
              </a:r>
            </a:p>
          </p:txBody>
        </p:sp>
      </p:grpSp>
      <p:sp>
        <p:nvSpPr>
          <p:cNvPr id="260" name="TextBox 8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크기 </a:t>
            </a:r>
            <a:r>
              <a:t>60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단위 </a:t>
            </a:r>
            <a:r>
              <a:t>PX   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을 체크합니다 </a:t>
            </a:r>
            <a:r>
              <a:t>—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앱헤더가 없는 화면에서 높이가 남지 않습니다</a:t>
            </a:r>
            <a:r>
              <a:t>.    · 1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행은 앱헤더</a:t>
            </a:r>
            <a:r>
              <a:t>(grpAppHeader)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영역입니다</a:t>
            </a:r>
            <a:r>
              <a:t>.</a:t>
            </a:r>
          </a:p>
        </p:txBody>
      </p:sp>
      <p:pic>
        <p:nvPicPr>
          <p:cNvPr id="26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8449" y="2368295"/>
            <a:ext cx="6601195" cy="2990089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262" name="Rounded Rectangle 10"/>
          <p:cNvSpPr/>
          <p:nvPr/>
        </p:nvSpPr>
        <p:spPr>
          <a:xfrm>
            <a:off x="5310399" y="3488633"/>
            <a:ext cx="1140296" cy="312562"/>
          </a:xfrm>
          <a:prstGeom prst="roundRect">
            <a:avLst>
              <a:gd name="adj" fmla="val 20000"/>
            </a:avLst>
          </a:prstGeom>
          <a:ln w="28575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Rectangle 11"/>
          <p:cNvSpPr/>
          <p:nvPr/>
        </p:nvSpPr>
        <p:spPr>
          <a:xfrm>
            <a:off x="566927" y="5449823"/>
            <a:ext cx="11064242" cy="658369"/>
          </a:xfrm>
          <a:prstGeom prst="rect">
            <a:avLst/>
          </a:prstGeom>
          <a:solidFill>
            <a:srgbClr val="FEFAEB"/>
          </a:solidFill>
          <a:ln w="12700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Rectangle 12"/>
          <p:cNvSpPr/>
          <p:nvPr/>
        </p:nvSpPr>
        <p:spPr>
          <a:xfrm>
            <a:off x="566927" y="5449823"/>
            <a:ext cx="64009" cy="658369"/>
          </a:xfrm>
          <a:prstGeom prst="rect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13"/>
          <p:cNvSpPr txBox="1"/>
          <p:nvPr/>
        </p:nvSpPr>
        <p:spPr>
          <a:xfrm>
            <a:off x="877824" y="5692902"/>
            <a:ext cx="10515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200">
                <a:solidFill>
                  <a:srgbClr val="8E6A0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반드시 체크합니다</a:t>
            </a:r>
            <a:r>
              <a:rPr b="0">
                <a:solidFill>
                  <a:srgbClr val="3F3F46"/>
                </a:solidFill>
              </a:rPr>
              <a:t>. 60px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는 편집기에서 보이는 높이이고</a:t>
            </a:r>
            <a:r>
              <a:rPr b="0">
                <a:solidFill>
                  <a:srgbClr val="3F3F46"/>
                </a:solidFill>
              </a:rPr>
              <a:t>,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실제 렌더링 높이는 내용에 맞춰 자동 계산됩니다</a:t>
            </a:r>
            <a:r>
              <a:rPr b="0">
                <a:solidFill>
                  <a:srgbClr val="3F3F46"/>
                </a:solidFill>
              </a:rPr>
              <a:t>.</a:t>
            </a:r>
          </a:p>
        </p:txBody>
      </p:sp>
      <p:sp>
        <p:nvSpPr>
          <p:cNvPr id="266" name="TextBox 14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67" name="TextBox 15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09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06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71" name="TextBox 3"/>
          <p:cNvSpPr txBox="1"/>
          <p:nvPr/>
        </p:nvSpPr>
        <p:spPr>
          <a:xfrm>
            <a:off x="566928" y="786383"/>
            <a:ext cx="9904857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2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행을 선택한다</a:t>
            </a:r>
          </a:p>
        </p:txBody>
      </p:sp>
      <p:sp>
        <p:nvSpPr>
          <p:cNvPr id="272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조회 영역</a:t>
            </a:r>
            <a:r>
              <a:t>(grpHeader)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이 들어가는 행입니다</a:t>
            </a:r>
            <a:r>
              <a:t>.</a:t>
            </a:r>
          </a:p>
        </p:txBody>
      </p:sp>
      <p:grpSp>
        <p:nvGrpSpPr>
          <p:cNvPr id="275" name="Rounded Rectangle 5"/>
          <p:cNvGrpSpPr/>
          <p:nvPr/>
        </p:nvGrpSpPr>
        <p:grpSpPr>
          <a:xfrm>
            <a:off x="10727817" y="804672"/>
            <a:ext cx="821056" cy="310897"/>
            <a:chOff x="0" y="0"/>
            <a:chExt cx="821055" cy="310895"/>
          </a:xfrm>
        </p:grpSpPr>
        <p:sp>
          <p:nvSpPr>
            <p:cNvPr id="273" name="모서리가 둥근 직사각형"/>
            <p:cNvSpPr/>
            <p:nvPr/>
          </p:nvSpPr>
          <p:spPr>
            <a:xfrm>
              <a:off x="0" y="0"/>
              <a:ext cx="821056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4" name="2행 선택"/>
            <p:cNvSpPr txBox="1"/>
            <p:nvPr/>
          </p:nvSpPr>
          <p:spPr>
            <a:xfrm>
              <a:off x="45738" y="74801"/>
              <a:ext cx="729579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2</a:t>
              </a: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행 선택</a:t>
              </a:r>
            </a:p>
          </p:txBody>
        </p:sp>
      </p:grpSp>
      <p:pic>
        <p:nvPicPr>
          <p:cNvPr id="27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2079" y="1874518"/>
            <a:ext cx="8653937" cy="4270249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277" name="TextBox 7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78" name="TextBox 8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10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07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82" name="TextBox 3"/>
          <p:cNvSpPr txBox="1"/>
          <p:nvPr/>
        </p:nvSpPr>
        <p:spPr>
          <a:xfrm>
            <a:off x="566927" y="786383"/>
            <a:ext cx="8501445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2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높이를 </a:t>
            </a:r>
            <a:r>
              <a:t>132px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지정한다</a:t>
            </a:r>
          </a:p>
        </p:txBody>
      </p:sp>
      <p:sp>
        <p:nvSpPr>
          <p:cNvPr id="283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조회조건 </a:t>
            </a:r>
            <a:r>
              <a:t>2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줄 기준 높이입니다</a:t>
            </a:r>
            <a:r>
              <a:t>.</a:t>
            </a:r>
          </a:p>
        </p:txBody>
      </p:sp>
      <p:grpSp>
        <p:nvGrpSpPr>
          <p:cNvPr id="286" name="Rounded Rectangle 5"/>
          <p:cNvGrpSpPr/>
          <p:nvPr/>
        </p:nvGrpSpPr>
        <p:grpSpPr>
          <a:xfrm>
            <a:off x="9324402" y="804672"/>
            <a:ext cx="714376" cy="310897"/>
            <a:chOff x="0" y="0"/>
            <a:chExt cx="714375" cy="310895"/>
          </a:xfrm>
        </p:grpSpPr>
        <p:sp>
          <p:nvSpPr>
            <p:cNvPr id="284" name="모서리가 둥근 직사각형"/>
            <p:cNvSpPr/>
            <p:nvPr/>
          </p:nvSpPr>
          <p:spPr>
            <a:xfrm>
              <a:off x="0" y="0"/>
              <a:ext cx="714375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5" name="132 PX"/>
            <p:cNvSpPr txBox="1"/>
            <p:nvPr/>
          </p:nvSpPr>
          <p:spPr>
            <a:xfrm>
              <a:off x="45738" y="79247"/>
              <a:ext cx="622899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132 PX</a:t>
              </a:r>
            </a:p>
          </p:txBody>
        </p:sp>
      </p:grpSp>
      <p:grpSp>
        <p:nvGrpSpPr>
          <p:cNvPr id="289" name="Rounded Rectangle 6"/>
          <p:cNvGrpSpPr/>
          <p:nvPr/>
        </p:nvGrpSpPr>
        <p:grpSpPr>
          <a:xfrm>
            <a:off x="10121073" y="804672"/>
            <a:ext cx="1427798" cy="310897"/>
            <a:chOff x="0" y="0"/>
            <a:chExt cx="1427796" cy="310895"/>
          </a:xfrm>
        </p:grpSpPr>
        <p:sp>
          <p:nvSpPr>
            <p:cNvPr id="287" name="모서리가 둥근 직사각형"/>
            <p:cNvSpPr/>
            <p:nvPr/>
          </p:nvSpPr>
          <p:spPr>
            <a:xfrm>
              <a:off x="0" y="0"/>
              <a:ext cx="1427797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8" name="자동 크기 사용 ✓"/>
            <p:cNvSpPr txBox="1"/>
            <p:nvPr/>
          </p:nvSpPr>
          <p:spPr>
            <a:xfrm>
              <a:off x="45738" y="73592"/>
              <a:ext cx="1336321" cy="163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자동 크기 사용 ✓</a:t>
              </a:r>
            </a:p>
          </p:txBody>
        </p:sp>
      </p:grpSp>
      <p:sp>
        <p:nvSpPr>
          <p:cNvPr id="290" name="TextBox 7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크기 </a:t>
            </a:r>
            <a:r>
              <a:t>132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단위 </a:t>
            </a:r>
            <a:r>
              <a:t>PX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체크    </a:t>
            </a:r>
            <a:r>
              <a:t>· 3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행은 </a:t>
            </a:r>
            <a:r>
              <a:t>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그대로 둡니다 </a:t>
            </a:r>
            <a:r>
              <a:t>—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바디가 남은 높이를 모두 차지합니다</a:t>
            </a:r>
            <a:r>
              <a:t>.   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조회영역에 페이징이 함께 들어가는 화면은 </a:t>
            </a:r>
            <a:r>
              <a:t>132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보다 커질 수 있습니다</a:t>
            </a:r>
            <a:r>
              <a:t>.</a:t>
            </a:r>
          </a:p>
        </p:txBody>
      </p:sp>
      <p:pic>
        <p:nvPicPr>
          <p:cNvPr id="29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98555" y="2368295"/>
            <a:ext cx="6800985" cy="2990089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292" name="Rounded Rectangle 9"/>
          <p:cNvSpPr/>
          <p:nvPr/>
        </p:nvSpPr>
        <p:spPr>
          <a:xfrm>
            <a:off x="5259880" y="3522719"/>
            <a:ext cx="1162139" cy="317944"/>
          </a:xfrm>
          <a:prstGeom prst="roundRect">
            <a:avLst>
              <a:gd name="adj" fmla="val 20000"/>
            </a:avLst>
          </a:prstGeom>
          <a:ln w="28575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ectangle 10"/>
          <p:cNvSpPr/>
          <p:nvPr/>
        </p:nvSpPr>
        <p:spPr>
          <a:xfrm>
            <a:off x="566927" y="5449823"/>
            <a:ext cx="11064242" cy="658369"/>
          </a:xfrm>
          <a:prstGeom prst="rect">
            <a:avLst/>
          </a:prstGeom>
          <a:solidFill>
            <a:srgbClr val="FEFAEB"/>
          </a:solidFill>
          <a:ln w="12700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Rectangle 11"/>
          <p:cNvSpPr/>
          <p:nvPr/>
        </p:nvSpPr>
        <p:spPr>
          <a:xfrm>
            <a:off x="566927" y="5449823"/>
            <a:ext cx="64009" cy="658369"/>
          </a:xfrm>
          <a:prstGeom prst="rect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12"/>
          <p:cNvSpPr txBox="1"/>
          <p:nvPr/>
        </p:nvSpPr>
        <p:spPr>
          <a:xfrm>
            <a:off x="877824" y="5692902"/>
            <a:ext cx="10515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200">
                <a:solidFill>
                  <a:srgbClr val="8E6A0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여기서도 체크합니다</a:t>
            </a:r>
            <a:r>
              <a:rPr b="0">
                <a:solidFill>
                  <a:srgbClr val="3F3F46"/>
                </a:solidFill>
              </a:rPr>
              <a:t>.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조회조건 줄 수가 달라져도 렌더링 시 높이가 자동으로 맞춰집니다</a:t>
            </a:r>
            <a:r>
              <a:rPr b="0">
                <a:solidFill>
                  <a:srgbClr val="3F3F46"/>
                </a:solidFill>
              </a:rPr>
              <a:t>.</a:t>
            </a:r>
          </a:p>
        </p:txBody>
      </p:sp>
      <p:sp>
        <p:nvSpPr>
          <p:cNvPr id="296" name="TextBox 13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297" name="TextBox 14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11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08</a:t>
            </a:r>
            <a:r>
              <a:rPr b="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① </a:t>
            </a:r>
            <a:r>
              <a:rPr b="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301" name="TextBox 3"/>
          <p:cNvSpPr txBox="1"/>
          <p:nvPr/>
        </p:nvSpPr>
        <p:spPr>
          <a:xfrm>
            <a:off x="566927" y="758951"/>
            <a:ext cx="4663442" cy="87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여백을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20px 34px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지정한다</a:t>
            </a:r>
          </a:p>
        </p:txBody>
      </p:sp>
      <p:sp>
        <p:nvSpPr>
          <p:cNvPr id="302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Properties 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 </a:t>
            </a:r>
            <a:r>
              <a:t>› margins.</a:t>
            </a:r>
          </a:p>
        </p:txBody>
      </p:sp>
      <p:grpSp>
        <p:nvGrpSpPr>
          <p:cNvPr id="305" name="Rounded Rectangle 5"/>
          <p:cNvGrpSpPr/>
          <p:nvPr/>
        </p:nvGrpSpPr>
        <p:grpSpPr>
          <a:xfrm>
            <a:off x="566927" y="2350007"/>
            <a:ext cx="1521144" cy="310897"/>
            <a:chOff x="0" y="0"/>
            <a:chExt cx="1521142" cy="310895"/>
          </a:xfrm>
        </p:grpSpPr>
        <p:sp>
          <p:nvSpPr>
            <p:cNvPr id="303" name="모서리가 둥근 직사각형"/>
            <p:cNvSpPr/>
            <p:nvPr/>
          </p:nvSpPr>
          <p:spPr>
            <a:xfrm>
              <a:off x="0" y="0"/>
              <a:ext cx="1521143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4" name="margins 20px 34px"/>
            <p:cNvSpPr txBox="1"/>
            <p:nvPr/>
          </p:nvSpPr>
          <p:spPr>
            <a:xfrm>
              <a:off x="45738" y="79247"/>
              <a:ext cx="142966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margins 20px 34px</a:t>
              </a:r>
            </a:p>
          </p:txBody>
        </p:sp>
      </p:grpSp>
      <p:sp>
        <p:nvSpPr>
          <p:cNvPr id="306" name="Oval 6"/>
          <p:cNvSpPr/>
          <p:nvPr/>
        </p:nvSpPr>
        <p:spPr>
          <a:xfrm>
            <a:off x="603504" y="3058667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7"/>
          <p:cNvSpPr txBox="1"/>
          <p:nvPr/>
        </p:nvSpPr>
        <p:spPr>
          <a:xfrm>
            <a:off x="841248" y="2953511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상하 </a:t>
            </a:r>
            <a:r>
              <a:rPr b="1">
                <a:solidFill>
                  <a:srgbClr val="162556"/>
                </a:solidFill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t>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좌우 </a:t>
            </a:r>
            <a:r>
              <a:rPr b="1">
                <a:solidFill>
                  <a:srgbClr val="162556"/>
                </a:solidFill>
                <a:latin typeface="Consolas"/>
                <a:ea typeface="Consolas"/>
                <a:cs typeface="Consolas"/>
                <a:sym typeface="Consolas"/>
              </a:rPr>
              <a:t>34px</a:t>
            </a:r>
          </a:p>
        </p:txBody>
      </p:sp>
      <p:sp>
        <p:nvSpPr>
          <p:cNvPr id="308" name="Oval 8"/>
          <p:cNvSpPr/>
          <p:nvPr/>
        </p:nvSpPr>
        <p:spPr>
          <a:xfrm>
            <a:off x="603504" y="3451859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9"/>
          <p:cNvSpPr txBox="1"/>
          <p:nvPr/>
        </p:nvSpPr>
        <p:spPr>
          <a:xfrm>
            <a:off x="841248" y="3346703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간격</a:t>
            </a:r>
            <a:r>
              <a:t>(horizontal/verticalSpacing)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은 </a:t>
            </a:r>
            <a:r>
              <a:t>0px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그대로 둡니다</a:t>
            </a:r>
            <a:r>
              <a:t>.</a:t>
            </a:r>
          </a:p>
        </p:txBody>
      </p:sp>
      <p:sp>
        <p:nvSpPr>
          <p:cNvPr id="310" name="Rectangle 10"/>
          <p:cNvSpPr/>
          <p:nvPr/>
        </p:nvSpPr>
        <p:spPr>
          <a:xfrm>
            <a:off x="566928" y="4096510"/>
            <a:ext cx="4526280" cy="27433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1"/>
          <p:cNvSpPr txBox="1"/>
          <p:nvPr/>
        </p:nvSpPr>
        <p:spPr>
          <a:xfrm>
            <a:off x="566928" y="4279391"/>
            <a:ext cx="452628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팝업 화면은 여백을 넣지 않습니다</a:t>
            </a:r>
            <a:r>
              <a:t>.</a:t>
            </a:r>
          </a:p>
        </p:txBody>
      </p:sp>
      <p:pic>
        <p:nvPicPr>
          <p:cNvPr id="312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2120" y="1257299"/>
            <a:ext cx="6108192" cy="4480560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313" name="TextBox 13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①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</a:t>
            </a:r>
          </a:p>
        </p:txBody>
      </p:sp>
      <p:sp>
        <p:nvSpPr>
          <p:cNvPr id="314" name="TextBox 14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12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09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318" name="TextBox 3"/>
          <p:cNvSpPr txBox="1"/>
          <p:nvPr/>
        </p:nvSpPr>
        <p:spPr>
          <a:xfrm>
            <a:off x="566927" y="758951"/>
            <a:ext cx="4663442" cy="87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바디 그룹</a:t>
            </a: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grpData 를 찾는다</a:t>
            </a:r>
          </a:p>
        </p:txBody>
      </p:sp>
      <p:sp>
        <p:nvSpPr>
          <p:cNvPr id="319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루트의 3행(바디)에 들어가는 그룹입니다.</a:t>
            </a:r>
          </a:p>
        </p:txBody>
      </p:sp>
      <p:grpSp>
        <p:nvGrpSpPr>
          <p:cNvPr id="322" name="Rounded Rectangle 5"/>
          <p:cNvGrpSpPr/>
          <p:nvPr/>
        </p:nvGrpSpPr>
        <p:grpSpPr>
          <a:xfrm>
            <a:off x="566927" y="2615183"/>
            <a:ext cx="1374458" cy="310897"/>
            <a:chOff x="0" y="0"/>
            <a:chExt cx="1374456" cy="310895"/>
          </a:xfrm>
        </p:grpSpPr>
        <p:sp>
          <p:nvSpPr>
            <p:cNvPr id="320" name="모서리가 둥근 직사각형"/>
            <p:cNvSpPr/>
            <p:nvPr/>
          </p:nvSpPr>
          <p:spPr>
            <a:xfrm>
              <a:off x="0" y="0"/>
              <a:ext cx="1374457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1" name="class = content-body"/>
            <p:cNvSpPr txBox="1"/>
            <p:nvPr/>
          </p:nvSpPr>
          <p:spPr>
            <a:xfrm>
              <a:off x="45738" y="79247"/>
              <a:ext cx="1282981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class = content-body</a:t>
              </a:r>
            </a:p>
          </p:txBody>
        </p:sp>
      </p:grpSp>
      <p:sp>
        <p:nvSpPr>
          <p:cNvPr id="323" name="Oval 6"/>
          <p:cNvSpPr/>
          <p:nvPr/>
        </p:nvSpPr>
        <p:spPr>
          <a:xfrm>
            <a:off x="603504" y="3323844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7"/>
          <p:cNvSpPr txBox="1"/>
          <p:nvPr/>
        </p:nvSpPr>
        <p:spPr>
          <a:xfrm>
            <a:off x="841248" y="321868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Properties › 스타일 탭에서 class 값을 확인합니다.</a:t>
            </a:r>
          </a:p>
        </p:txBody>
      </p:sp>
      <p:sp>
        <p:nvSpPr>
          <p:cNvPr id="325" name="Oval 8"/>
          <p:cNvSpPr/>
          <p:nvPr/>
        </p:nvSpPr>
        <p:spPr>
          <a:xfrm>
            <a:off x="603504" y="3963923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9"/>
          <p:cNvSpPr txBox="1"/>
          <p:nvPr/>
        </p:nvSpPr>
        <p:spPr>
          <a:xfrm>
            <a:off x="841248" y="385876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20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이 그룹도 버티컬 레이아웃으로 되어 있습니다.</a:t>
            </a:r>
          </a:p>
        </p:txBody>
      </p:sp>
      <p:sp>
        <p:nvSpPr>
          <p:cNvPr id="327" name="TextBox 11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328" name="TextBox 12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13 / 23</a:t>
            </a:r>
          </a:p>
        </p:txBody>
      </p:sp>
      <p:pic>
        <p:nvPicPr>
          <p:cNvPr id="329" name="tree_crop.png" descr="tree_cro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9100" y="965200"/>
            <a:ext cx="3636306" cy="5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10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333" name="TextBox 3"/>
          <p:cNvSpPr txBox="1"/>
          <p:nvPr/>
        </p:nvSpPr>
        <p:spPr>
          <a:xfrm>
            <a:off x="566927" y="758951"/>
            <a:ext cx="4663442" cy="87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grpData 를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 레이아웃으로 바꾼다</a:t>
            </a:r>
          </a:p>
        </p:txBody>
      </p:sp>
      <p:sp>
        <p:nvSpPr>
          <p:cNvPr id="334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grpData 에서 우클릭 › 레이아웃 › 폼 레이아웃.</a:t>
            </a:r>
          </a:p>
        </p:txBody>
      </p:sp>
      <p:grpSp>
        <p:nvGrpSpPr>
          <p:cNvPr id="337" name="Rounded Rectangle 5"/>
          <p:cNvGrpSpPr/>
          <p:nvPr/>
        </p:nvGrpSpPr>
        <p:grpSpPr>
          <a:xfrm>
            <a:off x="566927" y="2615183"/>
            <a:ext cx="674371" cy="310897"/>
            <a:chOff x="0" y="0"/>
            <a:chExt cx="674369" cy="310895"/>
          </a:xfrm>
        </p:grpSpPr>
        <p:sp>
          <p:nvSpPr>
            <p:cNvPr id="335" name="모서리가 둥근 직사각형"/>
            <p:cNvSpPr/>
            <p:nvPr/>
          </p:nvSpPr>
          <p:spPr>
            <a:xfrm>
              <a:off x="0" y="0"/>
              <a:ext cx="67437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6" name="우클릭"/>
            <p:cNvSpPr txBox="1"/>
            <p:nvPr/>
          </p:nvSpPr>
          <p:spPr>
            <a:xfrm>
              <a:off x="45738" y="79247"/>
              <a:ext cx="58289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우클릭</a:t>
              </a:r>
            </a:p>
          </p:txBody>
        </p:sp>
      </p:grpSp>
      <p:grpSp>
        <p:nvGrpSpPr>
          <p:cNvPr id="340" name="Rounded Rectangle 6"/>
          <p:cNvGrpSpPr/>
          <p:nvPr/>
        </p:nvGrpSpPr>
        <p:grpSpPr>
          <a:xfrm>
            <a:off x="1323594" y="2615183"/>
            <a:ext cx="807720" cy="310897"/>
            <a:chOff x="0" y="0"/>
            <a:chExt cx="807719" cy="310895"/>
          </a:xfrm>
        </p:grpSpPr>
        <p:sp>
          <p:nvSpPr>
            <p:cNvPr id="338" name="모서리가 둥근 직사각형"/>
            <p:cNvSpPr/>
            <p:nvPr/>
          </p:nvSpPr>
          <p:spPr>
            <a:xfrm>
              <a:off x="0" y="0"/>
              <a:ext cx="80772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9" name="레이아웃"/>
            <p:cNvSpPr txBox="1"/>
            <p:nvPr/>
          </p:nvSpPr>
          <p:spPr>
            <a:xfrm>
              <a:off x="45738" y="79247"/>
              <a:ext cx="71624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레이아웃</a:t>
              </a:r>
            </a:p>
          </p:txBody>
        </p:sp>
      </p:grpSp>
      <p:grpSp>
        <p:nvGrpSpPr>
          <p:cNvPr id="343" name="Rounded Rectangle 7"/>
          <p:cNvGrpSpPr/>
          <p:nvPr/>
        </p:nvGrpSpPr>
        <p:grpSpPr>
          <a:xfrm>
            <a:off x="2213610" y="2615183"/>
            <a:ext cx="1014413" cy="310897"/>
            <a:chOff x="0" y="0"/>
            <a:chExt cx="1014412" cy="310895"/>
          </a:xfrm>
        </p:grpSpPr>
        <p:sp>
          <p:nvSpPr>
            <p:cNvPr id="341" name="모서리가 둥근 직사각형"/>
            <p:cNvSpPr/>
            <p:nvPr/>
          </p:nvSpPr>
          <p:spPr>
            <a:xfrm>
              <a:off x="0" y="0"/>
              <a:ext cx="1014413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2" name="폼 레이아웃"/>
            <p:cNvSpPr txBox="1"/>
            <p:nvPr/>
          </p:nvSpPr>
          <p:spPr>
            <a:xfrm>
              <a:off x="45738" y="74801"/>
              <a:ext cx="922936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폼 레이아웃</a:t>
              </a:r>
            </a:p>
          </p:txBody>
        </p:sp>
      </p:grpSp>
      <p:sp>
        <p:nvSpPr>
          <p:cNvPr id="344" name="Oval 8"/>
          <p:cNvSpPr/>
          <p:nvPr/>
        </p:nvSpPr>
        <p:spPr>
          <a:xfrm>
            <a:off x="603504" y="3323844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9"/>
          <p:cNvSpPr txBox="1"/>
          <p:nvPr/>
        </p:nvSpPr>
        <p:spPr>
          <a:xfrm>
            <a:off x="841248" y="321868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Outline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또는 디자인 뷰 어느 쪽에서 해도 됩니다</a:t>
            </a:r>
            <a:r>
              <a:t>.</a:t>
            </a:r>
          </a:p>
        </p:txBody>
      </p:sp>
      <p:sp>
        <p:nvSpPr>
          <p:cNvPr id="346" name="Oval 10"/>
          <p:cNvSpPr/>
          <p:nvPr/>
        </p:nvSpPr>
        <p:spPr>
          <a:xfrm>
            <a:off x="603504" y="3717035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11"/>
          <p:cNvSpPr txBox="1"/>
          <p:nvPr/>
        </p:nvSpPr>
        <p:spPr>
          <a:xfrm>
            <a:off x="841248" y="3611879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현재 체크는 버티컬 레이아웃에 있습니다</a:t>
            </a:r>
            <a:r>
              <a:t>.</a:t>
            </a:r>
          </a:p>
        </p:txBody>
      </p:sp>
      <p:sp>
        <p:nvSpPr>
          <p:cNvPr id="348" name="TextBox 15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349" name="TextBox 16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14 / 23</a:t>
            </a:r>
          </a:p>
        </p:txBody>
      </p:sp>
      <p:pic>
        <p:nvPicPr>
          <p:cNvPr id="350" name="스크린샷 2026-09-18 오후 7.13.14.png" descr="스크린샷 2026-09-18 오후 7.13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15100" y="965200"/>
            <a:ext cx="4136878" cy="508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11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354" name="TextBox 3"/>
          <p:cNvSpPr txBox="1"/>
          <p:nvPr/>
        </p:nvSpPr>
        <p:spPr>
          <a:xfrm>
            <a:off x="566927" y="758951"/>
            <a:ext cx="4663442" cy="87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행과 열을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자식 배치만큼 지정한다</a:t>
            </a:r>
          </a:p>
        </p:txBody>
      </p:sp>
      <p:sp>
        <p:nvSpPr>
          <p:cNvPr id="355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새 폼 레이아웃 대화상자에서 구획 수와 간격을 지정합니다.</a:t>
            </a:r>
          </a:p>
        </p:txBody>
      </p:sp>
      <p:grpSp>
        <p:nvGrpSpPr>
          <p:cNvPr id="358" name="Rounded Rectangle 5"/>
          <p:cNvGrpSpPr/>
          <p:nvPr/>
        </p:nvGrpSpPr>
        <p:grpSpPr>
          <a:xfrm>
            <a:off x="566927" y="2350007"/>
            <a:ext cx="1521144" cy="310897"/>
            <a:chOff x="0" y="0"/>
            <a:chExt cx="1521142" cy="310895"/>
          </a:xfrm>
        </p:grpSpPr>
        <p:sp>
          <p:nvSpPr>
            <p:cNvPr id="356" name="모서리가 둥근 직사각형"/>
            <p:cNvSpPr/>
            <p:nvPr/>
          </p:nvSpPr>
          <p:spPr>
            <a:xfrm>
              <a:off x="0" y="0"/>
              <a:ext cx="1521143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7" name="열 1 · 행 1 · 간격 24"/>
            <p:cNvSpPr txBox="1"/>
            <p:nvPr/>
          </p:nvSpPr>
          <p:spPr>
            <a:xfrm>
              <a:off x="45738" y="74801"/>
              <a:ext cx="1429666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열 1 · 행 1 · 간격 24</a:t>
              </a:r>
            </a:p>
          </p:txBody>
        </p:sp>
      </p:grpSp>
      <p:sp>
        <p:nvSpPr>
          <p:cNvPr id="359" name="Oval 6"/>
          <p:cNvSpPr/>
          <p:nvPr/>
        </p:nvSpPr>
        <p:spPr>
          <a:xfrm>
            <a:off x="603504" y="3058667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7"/>
          <p:cNvSpPr txBox="1"/>
          <p:nvPr/>
        </p:nvSpPr>
        <p:spPr>
          <a:xfrm>
            <a:off x="841248" y="2953511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20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열 · 행은 grpData 자식의 배치만큼 지정합니다.</a:t>
            </a:r>
          </a:p>
        </p:txBody>
      </p:sp>
      <p:sp>
        <p:nvSpPr>
          <p:cNvPr id="361" name="Oval 8"/>
          <p:cNvSpPr/>
          <p:nvPr/>
        </p:nvSpPr>
        <p:spPr>
          <a:xfrm>
            <a:off x="603504" y="3451859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9"/>
          <p:cNvSpPr txBox="1"/>
          <p:nvPr/>
        </p:nvSpPr>
        <p:spPr>
          <a:xfrm>
            <a:off x="841248" y="3346703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20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여백 0 · 간격 24 · 행은 1 fr 그대로 둡니다.</a:t>
            </a:r>
          </a:p>
        </p:txBody>
      </p:sp>
      <p:sp>
        <p:nvSpPr>
          <p:cNvPr id="363" name="Rectangle 10"/>
          <p:cNvSpPr/>
          <p:nvPr/>
        </p:nvSpPr>
        <p:spPr>
          <a:xfrm>
            <a:off x="566928" y="4096510"/>
            <a:ext cx="4526280" cy="27433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11"/>
          <p:cNvSpPr txBox="1"/>
          <p:nvPr/>
        </p:nvSpPr>
        <p:spPr>
          <a:xfrm>
            <a:off x="566928" y="4279391"/>
            <a:ext cx="452628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5000"/>
              </a:lnSpc>
              <a:defRPr sz="110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자식이 좌우로 나뉜 화면은 열을 2로 지정합니다.</a:t>
            </a:r>
          </a:p>
        </p:txBody>
      </p:sp>
      <p:sp>
        <p:nvSpPr>
          <p:cNvPr id="365" name="TextBox 13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366" name="TextBox 14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15 / 23</a:t>
            </a:r>
          </a:p>
        </p:txBody>
      </p:sp>
      <p:pic>
        <p:nvPicPr>
          <p:cNvPr id="367" name="스크린샷 2026-09-18 오후 7.13.45.png" descr="스크린샷 2026-09-18 오후 7.13.4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0" y="2159000"/>
            <a:ext cx="5342567" cy="2336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12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371" name="TextBox 3"/>
          <p:cNvSpPr txBox="1"/>
          <p:nvPr/>
        </p:nvSpPr>
        <p:spPr>
          <a:xfrm>
            <a:off x="566927" y="758951"/>
            <a:ext cx="4663442" cy="87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grpData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안의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.content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를 찾는다</a:t>
            </a:r>
          </a:p>
        </p:txBody>
      </p:sp>
      <p:sp>
        <p:nvSpPr>
          <p:cNvPr id="372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바디 그룹 안에서 </a:t>
            </a:r>
            <a:r>
              <a:t>class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가 </a:t>
            </a:r>
            <a:r>
              <a:t>content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인 그룹이 대상입니다</a:t>
            </a:r>
            <a:r>
              <a:t>.</a:t>
            </a:r>
          </a:p>
        </p:txBody>
      </p:sp>
      <p:grpSp>
        <p:nvGrpSpPr>
          <p:cNvPr id="375" name="Rounded Rectangle 5"/>
          <p:cNvGrpSpPr/>
          <p:nvPr/>
        </p:nvGrpSpPr>
        <p:grpSpPr>
          <a:xfrm>
            <a:off x="566927" y="2615183"/>
            <a:ext cx="1374458" cy="310897"/>
            <a:chOff x="0" y="0"/>
            <a:chExt cx="1374456" cy="310895"/>
          </a:xfrm>
        </p:grpSpPr>
        <p:sp>
          <p:nvSpPr>
            <p:cNvPr id="373" name="모서리가 둥근 직사각형"/>
            <p:cNvSpPr/>
            <p:nvPr/>
          </p:nvSpPr>
          <p:spPr>
            <a:xfrm>
              <a:off x="0" y="0"/>
              <a:ext cx="1374457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4" name="class = content"/>
            <p:cNvSpPr txBox="1"/>
            <p:nvPr/>
          </p:nvSpPr>
          <p:spPr>
            <a:xfrm>
              <a:off x="45738" y="79247"/>
              <a:ext cx="1282981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class = content</a:t>
              </a:r>
            </a:p>
          </p:txBody>
        </p:sp>
      </p:grpSp>
      <p:sp>
        <p:nvSpPr>
          <p:cNvPr id="376" name="Oval 6"/>
          <p:cNvSpPr/>
          <p:nvPr/>
        </p:nvSpPr>
        <p:spPr>
          <a:xfrm>
            <a:off x="603504" y="3323844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7"/>
          <p:cNvSpPr txBox="1"/>
          <p:nvPr/>
        </p:nvSpPr>
        <p:spPr>
          <a:xfrm>
            <a:off x="841248" y="321868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Properties 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스타일 탭에서 </a:t>
            </a:r>
            <a:r>
              <a:t>class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값을 확인합니다</a:t>
            </a:r>
            <a:r>
              <a:t>.</a:t>
            </a:r>
          </a:p>
        </p:txBody>
      </p:sp>
      <p:sp>
        <p:nvSpPr>
          <p:cNvPr id="378" name="Oval 8"/>
          <p:cNvSpPr/>
          <p:nvPr/>
        </p:nvSpPr>
        <p:spPr>
          <a:xfrm>
            <a:off x="603504" y="3963923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9"/>
          <p:cNvSpPr txBox="1"/>
          <p:nvPr/>
        </p:nvSpPr>
        <p:spPr>
          <a:xfrm>
            <a:off x="841248" y="3858767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이 그룹도 버티컬 레이아웃으로 되어 있습니다</a:t>
            </a:r>
            <a:r>
              <a:t>.</a:t>
            </a:r>
          </a:p>
        </p:txBody>
      </p:sp>
      <p:pic>
        <p:nvPicPr>
          <p:cNvPr id="38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10111" y="960119"/>
            <a:ext cx="4152208" cy="5074922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381" name="TextBox 11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382" name="TextBox 12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16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13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386" name="TextBox 3"/>
          <p:cNvSpPr txBox="1"/>
          <p:nvPr/>
        </p:nvSpPr>
        <p:spPr>
          <a:xfrm>
            <a:off x="566927" y="758951"/>
            <a:ext cx="4663442" cy="87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.content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도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 레이아웃으로 바꾼다</a:t>
            </a:r>
          </a:p>
        </p:txBody>
      </p:sp>
      <p:sp>
        <p:nvSpPr>
          <p:cNvPr id="387" name="TextBox 4"/>
          <p:cNvSpPr txBox="1"/>
          <p:nvPr/>
        </p:nvSpPr>
        <p:spPr>
          <a:xfrm>
            <a:off x="566928" y="1810511"/>
            <a:ext cx="452628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동일하게 우클릭 </a:t>
            </a:r>
            <a:r>
              <a:t>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 </a:t>
            </a:r>
            <a:r>
              <a:t>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 레이아웃</a:t>
            </a:r>
            <a:r>
              <a:t>.</a:t>
            </a:r>
          </a:p>
        </p:txBody>
      </p:sp>
      <p:grpSp>
        <p:nvGrpSpPr>
          <p:cNvPr id="390" name="Rounded Rectangle 5"/>
          <p:cNvGrpSpPr/>
          <p:nvPr/>
        </p:nvGrpSpPr>
        <p:grpSpPr>
          <a:xfrm>
            <a:off x="566927" y="2350007"/>
            <a:ext cx="674371" cy="310897"/>
            <a:chOff x="0" y="0"/>
            <a:chExt cx="674369" cy="310895"/>
          </a:xfrm>
        </p:grpSpPr>
        <p:sp>
          <p:nvSpPr>
            <p:cNvPr id="388" name="모서리가 둥근 직사각형"/>
            <p:cNvSpPr/>
            <p:nvPr/>
          </p:nvSpPr>
          <p:spPr>
            <a:xfrm>
              <a:off x="0" y="0"/>
              <a:ext cx="67437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9" name="우클릭"/>
            <p:cNvSpPr txBox="1"/>
            <p:nvPr/>
          </p:nvSpPr>
          <p:spPr>
            <a:xfrm>
              <a:off x="45738" y="79247"/>
              <a:ext cx="58289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우클릭</a:t>
              </a:r>
            </a:p>
          </p:txBody>
        </p:sp>
      </p:grpSp>
      <p:grpSp>
        <p:nvGrpSpPr>
          <p:cNvPr id="393" name="Rounded Rectangle 6"/>
          <p:cNvGrpSpPr/>
          <p:nvPr/>
        </p:nvGrpSpPr>
        <p:grpSpPr>
          <a:xfrm>
            <a:off x="1323594" y="2350007"/>
            <a:ext cx="1014413" cy="310897"/>
            <a:chOff x="0" y="0"/>
            <a:chExt cx="1014412" cy="310895"/>
          </a:xfrm>
        </p:grpSpPr>
        <p:sp>
          <p:nvSpPr>
            <p:cNvPr id="391" name="모서리가 둥근 직사각형"/>
            <p:cNvSpPr/>
            <p:nvPr/>
          </p:nvSpPr>
          <p:spPr>
            <a:xfrm>
              <a:off x="0" y="0"/>
              <a:ext cx="1014413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2" name="폼 레이아웃"/>
            <p:cNvSpPr txBox="1"/>
            <p:nvPr/>
          </p:nvSpPr>
          <p:spPr>
            <a:xfrm>
              <a:off x="45738" y="74801"/>
              <a:ext cx="922936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폼 레이아웃</a:t>
              </a:r>
            </a:p>
          </p:txBody>
        </p:sp>
      </p:grpSp>
      <p:sp>
        <p:nvSpPr>
          <p:cNvPr id="394" name="Oval 7"/>
          <p:cNvSpPr/>
          <p:nvPr/>
        </p:nvSpPr>
        <p:spPr>
          <a:xfrm>
            <a:off x="603504" y="3058667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TextBox 8"/>
          <p:cNvSpPr txBox="1"/>
          <p:nvPr/>
        </p:nvSpPr>
        <p:spPr>
          <a:xfrm>
            <a:off x="841248" y="2953511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그리드를 직접 감싸고 있는 그룹이라 이 단계가 핵심입니다</a:t>
            </a:r>
            <a:r>
              <a:t>.</a:t>
            </a:r>
          </a:p>
        </p:txBody>
      </p:sp>
      <p:sp>
        <p:nvSpPr>
          <p:cNvPr id="396" name="Oval 9"/>
          <p:cNvSpPr/>
          <p:nvPr/>
        </p:nvSpPr>
        <p:spPr>
          <a:xfrm>
            <a:off x="603504" y="3698747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10"/>
          <p:cNvSpPr txBox="1"/>
          <p:nvPr/>
        </p:nvSpPr>
        <p:spPr>
          <a:xfrm>
            <a:off x="841248" y="3593591"/>
            <a:ext cx="4251960" cy="466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</a:t>
            </a:r>
            <a:r>
              <a:t>(form-base)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만 들어 있는 </a:t>
            </a:r>
            <a:r>
              <a:t>.content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는 버티컬 레이아웃 그대로 둡니다</a:t>
            </a:r>
            <a:r>
              <a:t>.</a:t>
            </a:r>
          </a:p>
        </p:txBody>
      </p:sp>
      <p:pic>
        <p:nvPicPr>
          <p:cNvPr id="398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44670" y="960119"/>
            <a:ext cx="4283090" cy="5074922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399" name="TextBox 12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400" name="TextBox 13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17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14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404" name="TextBox 3"/>
          <p:cNvSpPr txBox="1"/>
          <p:nvPr/>
        </p:nvSpPr>
        <p:spPr>
          <a:xfrm>
            <a:off x="566928" y="786383"/>
            <a:ext cx="7824786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 수와 간격을 지정한다</a:t>
            </a:r>
          </a:p>
        </p:txBody>
      </p:sp>
      <p:sp>
        <p:nvSpPr>
          <p:cNvPr id="405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타이틀 박스와 그리드가 들어갈 행을 만듭니다</a:t>
            </a:r>
            <a:r>
              <a:t>.</a:t>
            </a:r>
          </a:p>
        </p:txBody>
      </p:sp>
      <p:grpSp>
        <p:nvGrpSpPr>
          <p:cNvPr id="408" name="Rounded Rectangle 5"/>
          <p:cNvGrpSpPr/>
          <p:nvPr/>
        </p:nvGrpSpPr>
        <p:grpSpPr>
          <a:xfrm>
            <a:off x="8647747" y="804672"/>
            <a:ext cx="687705" cy="310897"/>
            <a:chOff x="0" y="0"/>
            <a:chExt cx="687704" cy="310895"/>
          </a:xfrm>
        </p:grpSpPr>
        <p:sp>
          <p:nvSpPr>
            <p:cNvPr id="406" name="모서리가 둥근 직사각형"/>
            <p:cNvSpPr/>
            <p:nvPr/>
          </p:nvSpPr>
          <p:spPr>
            <a:xfrm>
              <a:off x="0" y="0"/>
              <a:ext cx="687705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7" name="여백 0"/>
            <p:cNvSpPr txBox="1"/>
            <p:nvPr/>
          </p:nvSpPr>
          <p:spPr>
            <a:xfrm>
              <a:off x="45738" y="74801"/>
              <a:ext cx="596228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여백 </a:t>
              </a:r>
              <a:r>
                <a:t>0</a:t>
              </a:r>
            </a:p>
          </p:txBody>
        </p:sp>
      </p:grpSp>
      <p:grpSp>
        <p:nvGrpSpPr>
          <p:cNvPr id="411" name="Rounded Rectangle 6"/>
          <p:cNvGrpSpPr/>
          <p:nvPr/>
        </p:nvGrpSpPr>
        <p:grpSpPr>
          <a:xfrm>
            <a:off x="9417747" y="804672"/>
            <a:ext cx="761048" cy="310897"/>
            <a:chOff x="0" y="0"/>
            <a:chExt cx="761047" cy="310895"/>
          </a:xfrm>
        </p:grpSpPr>
        <p:sp>
          <p:nvSpPr>
            <p:cNvPr id="409" name="모서리가 둥근 직사각형"/>
            <p:cNvSpPr/>
            <p:nvPr/>
          </p:nvSpPr>
          <p:spPr>
            <a:xfrm>
              <a:off x="0" y="0"/>
              <a:ext cx="761048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0" name="간격 18"/>
            <p:cNvSpPr txBox="1"/>
            <p:nvPr/>
          </p:nvSpPr>
          <p:spPr>
            <a:xfrm>
              <a:off x="45738" y="74801"/>
              <a:ext cx="669571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간격 </a:t>
              </a:r>
              <a:r>
                <a:t>18</a:t>
              </a:r>
            </a:p>
          </p:txBody>
        </p:sp>
      </p:grpSp>
      <p:grpSp>
        <p:nvGrpSpPr>
          <p:cNvPr id="414" name="Rounded Rectangle 7"/>
          <p:cNvGrpSpPr/>
          <p:nvPr/>
        </p:nvGrpSpPr>
        <p:grpSpPr>
          <a:xfrm>
            <a:off x="10261092" y="804672"/>
            <a:ext cx="1287781" cy="310897"/>
            <a:chOff x="0" y="0"/>
            <a:chExt cx="1287780" cy="310895"/>
          </a:xfrm>
        </p:grpSpPr>
        <p:sp>
          <p:nvSpPr>
            <p:cNvPr id="412" name="모서리가 둥근 직사각형"/>
            <p:cNvSpPr/>
            <p:nvPr/>
          </p:nvSpPr>
          <p:spPr>
            <a:xfrm>
              <a:off x="0" y="0"/>
              <a:ext cx="1287781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3" name="→ h 24 / v 18"/>
            <p:cNvSpPr txBox="1"/>
            <p:nvPr/>
          </p:nvSpPr>
          <p:spPr>
            <a:xfrm>
              <a:off x="45738" y="78038"/>
              <a:ext cx="1196304" cy="154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→ h 24 / v 18</a:t>
              </a:r>
            </a:p>
          </p:txBody>
        </p:sp>
      </p:grpSp>
      <p:sp>
        <p:nvSpPr>
          <p:cNvPr id="415" name="TextBox 8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열 </a:t>
            </a:r>
            <a:r>
              <a:t>1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행은 안에 들어갈 컨트롤 수만큼    </a:t>
            </a: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간격 </a:t>
            </a:r>
            <a:r>
              <a:t>18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만든 뒤</a:t>
            </a:r>
            <a:r>
              <a:t>, Properties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에서 </a:t>
            </a:r>
            <a:r>
              <a:t>horizontalSpacing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만 </a:t>
            </a:r>
            <a:r>
              <a:t>24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올립니다</a:t>
            </a:r>
            <a:r>
              <a:t>.   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최종 표준은 가로 </a:t>
            </a:r>
            <a:r>
              <a:t>24px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세로 </a:t>
            </a:r>
            <a:r>
              <a:t>18px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입니다</a:t>
            </a:r>
            <a:r>
              <a:t>.</a:t>
            </a:r>
          </a:p>
        </p:txBody>
      </p:sp>
      <p:pic>
        <p:nvPicPr>
          <p:cNvPr id="416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54785" y="2368295"/>
            <a:ext cx="8888525" cy="3776472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417" name="TextBox 10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418" name="TextBox 11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18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15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422" name="TextBox 3"/>
          <p:cNvSpPr txBox="1"/>
          <p:nvPr/>
        </p:nvSpPr>
        <p:spPr>
          <a:xfrm>
            <a:off x="566928" y="786383"/>
            <a:ext cx="8574786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타이틀 행을 </a:t>
            </a:r>
            <a:r>
              <a:t>36px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지정한다</a:t>
            </a:r>
          </a:p>
        </p:txBody>
      </p:sp>
      <p:sp>
        <p:nvSpPr>
          <p:cNvPr id="423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content-title-box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가 들어가는 첫 행입니다</a:t>
            </a:r>
            <a:r>
              <a:t>.</a:t>
            </a:r>
          </a:p>
        </p:txBody>
      </p:sp>
      <p:grpSp>
        <p:nvGrpSpPr>
          <p:cNvPr id="426" name="Rounded Rectangle 5"/>
          <p:cNvGrpSpPr/>
          <p:nvPr/>
        </p:nvGrpSpPr>
        <p:grpSpPr>
          <a:xfrm>
            <a:off x="9397745" y="804672"/>
            <a:ext cx="641033" cy="310897"/>
            <a:chOff x="0" y="0"/>
            <a:chExt cx="641031" cy="310895"/>
          </a:xfrm>
        </p:grpSpPr>
        <p:sp>
          <p:nvSpPr>
            <p:cNvPr id="424" name="모서리가 둥근 직사각형"/>
            <p:cNvSpPr/>
            <p:nvPr/>
          </p:nvSpPr>
          <p:spPr>
            <a:xfrm>
              <a:off x="0" y="0"/>
              <a:ext cx="641032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5" name="36 PX"/>
            <p:cNvSpPr txBox="1"/>
            <p:nvPr/>
          </p:nvSpPr>
          <p:spPr>
            <a:xfrm>
              <a:off x="45738" y="79247"/>
              <a:ext cx="54955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36 PX</a:t>
              </a:r>
            </a:p>
          </p:txBody>
        </p:sp>
      </p:grpSp>
      <p:grpSp>
        <p:nvGrpSpPr>
          <p:cNvPr id="429" name="Rounded Rectangle 6"/>
          <p:cNvGrpSpPr/>
          <p:nvPr/>
        </p:nvGrpSpPr>
        <p:grpSpPr>
          <a:xfrm>
            <a:off x="10121073" y="804672"/>
            <a:ext cx="1427798" cy="310897"/>
            <a:chOff x="0" y="0"/>
            <a:chExt cx="1427796" cy="310895"/>
          </a:xfrm>
        </p:grpSpPr>
        <p:sp>
          <p:nvSpPr>
            <p:cNvPr id="427" name="모서리가 둥근 직사각형"/>
            <p:cNvSpPr/>
            <p:nvPr/>
          </p:nvSpPr>
          <p:spPr>
            <a:xfrm>
              <a:off x="0" y="0"/>
              <a:ext cx="1427797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8" name="자동 크기 사용 ✓"/>
            <p:cNvSpPr txBox="1"/>
            <p:nvPr/>
          </p:nvSpPr>
          <p:spPr>
            <a:xfrm>
              <a:off x="45738" y="73592"/>
              <a:ext cx="1336321" cy="163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자동 크기 사용 ✓</a:t>
              </a:r>
            </a:p>
          </p:txBody>
        </p:sp>
      </p:grpSp>
      <p:sp>
        <p:nvSpPr>
          <p:cNvPr id="430" name="TextBox 7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크기 </a:t>
            </a:r>
            <a:r>
              <a:t>36 · PX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체크    </a:t>
            </a: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타이틀을 숨긴 화면에서도 높이가 남지 않습니다</a:t>
            </a:r>
            <a:r>
              <a:t>.</a:t>
            </a:r>
          </a:p>
        </p:txBody>
      </p:sp>
      <p:pic>
        <p:nvPicPr>
          <p:cNvPr id="43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5738" y="2121407"/>
            <a:ext cx="7726618" cy="3236977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432" name="Rounded Rectangle 9"/>
          <p:cNvSpPr/>
          <p:nvPr/>
        </p:nvSpPr>
        <p:spPr>
          <a:xfrm>
            <a:off x="4678378" y="3233795"/>
            <a:ext cx="1100531" cy="313662"/>
          </a:xfrm>
          <a:prstGeom prst="roundRect">
            <a:avLst>
              <a:gd name="adj" fmla="val 20000"/>
            </a:avLst>
          </a:prstGeom>
          <a:ln w="28575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Rectangle 10"/>
          <p:cNvSpPr/>
          <p:nvPr/>
        </p:nvSpPr>
        <p:spPr>
          <a:xfrm>
            <a:off x="566927" y="5449823"/>
            <a:ext cx="11064242" cy="658369"/>
          </a:xfrm>
          <a:prstGeom prst="rect">
            <a:avLst/>
          </a:prstGeom>
          <a:solidFill>
            <a:srgbClr val="FEFAEB"/>
          </a:solidFill>
          <a:ln w="12700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Rectangle 11"/>
          <p:cNvSpPr/>
          <p:nvPr/>
        </p:nvSpPr>
        <p:spPr>
          <a:xfrm>
            <a:off x="566927" y="5449823"/>
            <a:ext cx="64009" cy="658369"/>
          </a:xfrm>
          <a:prstGeom prst="rect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12"/>
          <p:cNvSpPr txBox="1"/>
          <p:nvPr/>
        </p:nvSpPr>
        <p:spPr>
          <a:xfrm>
            <a:off x="877824" y="5692902"/>
            <a:ext cx="10515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200">
                <a:solidFill>
                  <a:srgbClr val="8E6A0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체크해 두면 타이틀을 숨긴 화면에서 </a:t>
            </a:r>
            <a:r>
              <a:rPr b="0">
                <a:solidFill>
                  <a:srgbClr val="3F3F46"/>
                </a:solidFill>
              </a:rPr>
              <a:t>36px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자리가 빈칸으로 남지 않습니다</a:t>
            </a:r>
            <a:r>
              <a:rPr b="0">
                <a:solidFill>
                  <a:srgbClr val="3F3F46"/>
                </a:solidFill>
              </a:rPr>
              <a:t>.</a:t>
            </a:r>
          </a:p>
        </p:txBody>
      </p:sp>
      <p:sp>
        <p:nvSpPr>
          <p:cNvPr id="436" name="TextBox 13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437" name="TextBox 14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19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16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441" name="TextBox 3"/>
          <p:cNvSpPr txBox="1"/>
          <p:nvPr/>
        </p:nvSpPr>
        <p:spPr>
          <a:xfrm>
            <a:off x="566928" y="786383"/>
            <a:ext cx="10158222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4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 행을 </a:t>
            </a:r>
            <a:r>
              <a:t>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지정한다</a:t>
            </a:r>
          </a:p>
        </p:txBody>
      </p:sp>
      <p:sp>
        <p:nvSpPr>
          <p:cNvPr id="442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이 설정이 그리드를 화면 끝까지 채웁니다</a:t>
            </a:r>
            <a:r>
              <a:t>.</a:t>
            </a:r>
          </a:p>
        </p:txBody>
      </p:sp>
      <p:grpSp>
        <p:nvGrpSpPr>
          <p:cNvPr id="445" name="Rounded Rectangle 5"/>
          <p:cNvGrpSpPr/>
          <p:nvPr/>
        </p:nvGrpSpPr>
        <p:grpSpPr>
          <a:xfrm>
            <a:off x="10981181" y="804672"/>
            <a:ext cx="567691" cy="310897"/>
            <a:chOff x="0" y="0"/>
            <a:chExt cx="567690" cy="310895"/>
          </a:xfrm>
        </p:grpSpPr>
        <p:sp>
          <p:nvSpPr>
            <p:cNvPr id="443" name="모서리가 둥근 직사각형"/>
            <p:cNvSpPr/>
            <p:nvPr/>
          </p:nvSpPr>
          <p:spPr>
            <a:xfrm>
              <a:off x="0" y="0"/>
              <a:ext cx="567691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4" name="1 FR"/>
            <p:cNvSpPr txBox="1"/>
            <p:nvPr/>
          </p:nvSpPr>
          <p:spPr>
            <a:xfrm>
              <a:off x="45738" y="79247"/>
              <a:ext cx="47621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1 FR</a:t>
              </a:r>
            </a:p>
          </p:txBody>
        </p:sp>
      </p:grpSp>
      <p:sp>
        <p:nvSpPr>
          <p:cNvPr id="446" name="TextBox 6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크기 </a:t>
            </a:r>
            <a:r>
              <a:t>1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단위 </a:t>
            </a:r>
            <a:r>
              <a:t>FR    ·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을 선택하면 자동 크기 사용 체크는 사라집니다</a:t>
            </a:r>
            <a:r>
              <a:t>.</a:t>
            </a:r>
          </a:p>
        </p:txBody>
      </p:sp>
      <p:pic>
        <p:nvPicPr>
          <p:cNvPr id="44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6485" y="2121407"/>
            <a:ext cx="9465124" cy="4023360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448" name="TextBox 8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449" name="TextBox 9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20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2"/>
          <p:cNvSpPr txBox="1"/>
          <p:nvPr/>
        </p:nvSpPr>
        <p:spPr>
          <a:xfrm>
            <a:off x="566927" y="457200"/>
            <a:ext cx="73152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17</a:t>
            </a:r>
            <a:r>
              <a:rPr b="0">
                <a:solidFill>
                  <a:srgbClr val="71717A"/>
                </a:solidFill>
              </a:rPr>
              <a:t>   ② grpData › .content</a:t>
            </a:r>
          </a:p>
        </p:txBody>
      </p:sp>
      <p:sp>
        <p:nvSpPr>
          <p:cNvPr id="453" name="TextBox 3"/>
          <p:cNvSpPr txBox="1"/>
          <p:nvPr/>
        </p:nvSpPr>
        <p:spPr>
          <a:xfrm>
            <a:off x="566928" y="786383"/>
            <a:ext cx="8574786" cy="389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행이 더 있으면 같은 방식으로 지정한다</a:t>
            </a:r>
          </a:p>
        </p:txBody>
      </p:sp>
      <p:sp>
        <p:nvSpPr>
          <p:cNvPr id="454" name="TextBox 4"/>
          <p:cNvSpPr txBox="1"/>
          <p:nvPr/>
        </p:nvSpPr>
        <p:spPr>
          <a:xfrm>
            <a:off x="566927" y="1316736"/>
            <a:ext cx="10058401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폼</a:t>
            </a:r>
            <a:r>
              <a:t>·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버튼 등이 함께 있는 화면입니다</a:t>
            </a:r>
            <a:r>
              <a:t>.</a:t>
            </a:r>
          </a:p>
        </p:txBody>
      </p:sp>
      <p:grpSp>
        <p:nvGrpSpPr>
          <p:cNvPr id="457" name="Rounded Rectangle 5"/>
          <p:cNvGrpSpPr/>
          <p:nvPr/>
        </p:nvGrpSpPr>
        <p:grpSpPr>
          <a:xfrm>
            <a:off x="9397745" y="804672"/>
            <a:ext cx="641033" cy="310897"/>
            <a:chOff x="0" y="0"/>
            <a:chExt cx="641031" cy="310895"/>
          </a:xfrm>
        </p:grpSpPr>
        <p:sp>
          <p:nvSpPr>
            <p:cNvPr id="455" name="모서리가 둥근 직사각형"/>
            <p:cNvSpPr/>
            <p:nvPr/>
          </p:nvSpPr>
          <p:spPr>
            <a:xfrm>
              <a:off x="0" y="0"/>
              <a:ext cx="641032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56" name="36 PX"/>
            <p:cNvSpPr txBox="1"/>
            <p:nvPr/>
          </p:nvSpPr>
          <p:spPr>
            <a:xfrm>
              <a:off x="45738" y="79247"/>
              <a:ext cx="54955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36 PX</a:t>
              </a:r>
            </a:p>
          </p:txBody>
        </p:sp>
      </p:grpSp>
      <p:grpSp>
        <p:nvGrpSpPr>
          <p:cNvPr id="460" name="Rounded Rectangle 6"/>
          <p:cNvGrpSpPr/>
          <p:nvPr/>
        </p:nvGrpSpPr>
        <p:grpSpPr>
          <a:xfrm>
            <a:off x="10121073" y="804672"/>
            <a:ext cx="1427798" cy="310897"/>
            <a:chOff x="0" y="0"/>
            <a:chExt cx="1427796" cy="310895"/>
          </a:xfrm>
        </p:grpSpPr>
        <p:sp>
          <p:nvSpPr>
            <p:cNvPr id="458" name="모서리가 둥근 직사각형"/>
            <p:cNvSpPr/>
            <p:nvPr/>
          </p:nvSpPr>
          <p:spPr>
            <a:xfrm>
              <a:off x="0" y="0"/>
              <a:ext cx="1427797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59" name="자동 크기 사용 ✓"/>
            <p:cNvSpPr txBox="1"/>
            <p:nvPr/>
          </p:nvSpPr>
          <p:spPr>
            <a:xfrm>
              <a:off x="45738" y="73592"/>
              <a:ext cx="1336321" cy="163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자동 크기 사용 ✓</a:t>
              </a:r>
            </a:p>
          </p:txBody>
        </p:sp>
      </p:grpSp>
      <p:sp>
        <p:nvSpPr>
          <p:cNvPr id="461" name="TextBox 7"/>
          <p:cNvSpPr txBox="1"/>
          <p:nvPr/>
        </p:nvSpPr>
        <p:spPr>
          <a:xfrm>
            <a:off x="566928" y="1673351"/>
            <a:ext cx="108813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내용만큼만 차지할 행 </a:t>
            </a:r>
            <a:r>
              <a:t>— 36 PX +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   </a:t>
            </a:r>
            <a:r>
              <a:t>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남은 높이를 채울 행</a:t>
            </a:r>
            <a:r>
              <a:t>(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</a:t>
            </a:r>
            <a:r>
              <a:t>) — 1 FR    · 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은 한 컨테이너에 하나만 두는 것을 기본으로 합니다</a:t>
            </a:r>
            <a:r>
              <a:t>.</a:t>
            </a:r>
          </a:p>
        </p:txBody>
      </p:sp>
      <p:pic>
        <p:nvPicPr>
          <p:cNvPr id="462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0426" y="2368295"/>
            <a:ext cx="5357242" cy="2990089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463" name="Rounded Rectangle 9"/>
          <p:cNvSpPr/>
          <p:nvPr/>
        </p:nvSpPr>
        <p:spPr>
          <a:xfrm>
            <a:off x="5080563" y="3991566"/>
            <a:ext cx="747482" cy="212394"/>
          </a:xfrm>
          <a:prstGeom prst="roundRect">
            <a:avLst>
              <a:gd name="adj" fmla="val 20000"/>
            </a:avLst>
          </a:prstGeom>
          <a:ln w="28575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Rectangle 10"/>
          <p:cNvSpPr/>
          <p:nvPr/>
        </p:nvSpPr>
        <p:spPr>
          <a:xfrm>
            <a:off x="566927" y="5449823"/>
            <a:ext cx="11064242" cy="658369"/>
          </a:xfrm>
          <a:prstGeom prst="rect">
            <a:avLst/>
          </a:prstGeom>
          <a:solidFill>
            <a:srgbClr val="FEFAEB"/>
          </a:solidFill>
          <a:ln w="12700">
            <a:solidFill>
              <a:srgbClr val="FE9A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Rectangle 11"/>
          <p:cNvSpPr/>
          <p:nvPr/>
        </p:nvSpPr>
        <p:spPr>
          <a:xfrm>
            <a:off x="566927" y="5449823"/>
            <a:ext cx="64009" cy="658369"/>
          </a:xfrm>
          <a:prstGeom prst="rect">
            <a:avLst/>
          </a:prstGeom>
          <a:solidFill>
            <a:srgbClr val="FE9A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12"/>
          <p:cNvSpPr txBox="1"/>
          <p:nvPr/>
        </p:nvSpPr>
        <p:spPr>
          <a:xfrm>
            <a:off x="877824" y="5692902"/>
            <a:ext cx="10515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200">
                <a:solidFill>
                  <a:srgbClr val="8E6A00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자동 크기 사용  </a:t>
            </a:r>
            <a:r>
              <a:rPr b="0">
                <a:solidFill>
                  <a:srgbClr val="3F3F46"/>
                </a:solidFill>
              </a:rPr>
              <a:t>px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로 지정하는 행에는 모두 체크합니다</a:t>
            </a:r>
            <a:r>
              <a:rPr b="0">
                <a:solidFill>
                  <a:srgbClr val="3F3F46"/>
                </a:solidFill>
              </a:rPr>
              <a:t>. 1 FR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행은 </a:t>
            </a:r>
            <a:r>
              <a:rPr b="0">
                <a:solidFill>
                  <a:srgbClr val="3F3F46"/>
                </a:solidFill>
              </a:rPr>
              <a:t>FR </a:t>
            </a:r>
            <a:r>
              <a:rPr b="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rPr>
              <a:t>선택 시 체크박스가 사라집니다</a:t>
            </a:r>
            <a:r>
              <a:rPr b="0">
                <a:solidFill>
                  <a:srgbClr val="3F3F46"/>
                </a:solidFill>
              </a:rPr>
              <a:t>.</a:t>
            </a:r>
          </a:p>
        </p:txBody>
      </p:sp>
      <p:sp>
        <p:nvSpPr>
          <p:cNvPr id="467" name="TextBox 13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grpData › .content</a:t>
            </a:r>
          </a:p>
        </p:txBody>
      </p:sp>
      <p:sp>
        <p:nvSpPr>
          <p:cNvPr id="468" name="TextBox 14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21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2"/>
          <p:cNvSpPr txBox="1"/>
          <p:nvPr/>
        </p:nvSpPr>
        <p:spPr>
          <a:xfrm>
            <a:off x="566927" y="457200"/>
            <a:ext cx="54864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STEP 18</a:t>
            </a:r>
            <a:r>
              <a:rPr b="0">
                <a:solidFill>
                  <a:srgbClr val="71717A"/>
                </a:solidFill>
              </a:rPr>
              <a:t>   ③ 접근성</a:t>
            </a:r>
          </a:p>
        </p:txBody>
      </p:sp>
      <p:sp>
        <p:nvSpPr>
          <p:cNvPr id="472" name="TextBox 3"/>
          <p:cNvSpPr txBox="1"/>
          <p:nvPr/>
        </p:nvSpPr>
        <p:spPr>
          <a:xfrm>
            <a:off x="566927" y="758951"/>
            <a:ext cx="4663442" cy="867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표시순으로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17999"/>
              </a:lnSpc>
              <a:defRPr b="1" sz="25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자식을 정렬한다</a:t>
            </a:r>
          </a:p>
        </p:txBody>
      </p:sp>
      <p:sp>
        <p:nvSpPr>
          <p:cNvPr id="473" name="TextBox 4"/>
          <p:cNvSpPr txBox="1"/>
          <p:nvPr/>
        </p:nvSpPr>
        <p:spPr>
          <a:xfrm>
            <a:off x="566928" y="1810511"/>
            <a:ext cx="4526280" cy="536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레이아웃을 바꾸면 자식의 소스 순서가 화면 순서와 어긋날 수 있습니다</a:t>
            </a:r>
            <a:r>
              <a:t>.</a:t>
            </a:r>
          </a:p>
        </p:txBody>
      </p:sp>
      <p:grpSp>
        <p:nvGrpSpPr>
          <p:cNvPr id="476" name="Rounded Rectangle 5"/>
          <p:cNvGrpSpPr/>
          <p:nvPr/>
        </p:nvGrpSpPr>
        <p:grpSpPr>
          <a:xfrm>
            <a:off x="566927" y="2615183"/>
            <a:ext cx="674371" cy="310897"/>
            <a:chOff x="0" y="0"/>
            <a:chExt cx="674369" cy="310895"/>
          </a:xfrm>
        </p:grpSpPr>
        <p:sp>
          <p:nvSpPr>
            <p:cNvPr id="474" name="모서리가 둥근 직사각형"/>
            <p:cNvSpPr/>
            <p:nvPr/>
          </p:nvSpPr>
          <p:spPr>
            <a:xfrm>
              <a:off x="0" y="0"/>
              <a:ext cx="674370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5" name="우클릭"/>
            <p:cNvSpPr txBox="1"/>
            <p:nvPr/>
          </p:nvSpPr>
          <p:spPr>
            <a:xfrm>
              <a:off x="45738" y="79247"/>
              <a:ext cx="582894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우클릭</a:t>
              </a:r>
            </a:p>
          </p:txBody>
        </p:sp>
      </p:grpSp>
      <p:grpSp>
        <p:nvGrpSpPr>
          <p:cNvPr id="479" name="Rounded Rectangle 6"/>
          <p:cNvGrpSpPr/>
          <p:nvPr/>
        </p:nvGrpSpPr>
        <p:grpSpPr>
          <a:xfrm>
            <a:off x="1323594" y="2615183"/>
            <a:ext cx="1621156" cy="310897"/>
            <a:chOff x="0" y="0"/>
            <a:chExt cx="1621155" cy="310895"/>
          </a:xfrm>
        </p:grpSpPr>
        <p:sp>
          <p:nvSpPr>
            <p:cNvPr id="477" name="모서리가 둥근 직사각형"/>
            <p:cNvSpPr/>
            <p:nvPr/>
          </p:nvSpPr>
          <p:spPr>
            <a:xfrm>
              <a:off x="0" y="0"/>
              <a:ext cx="1621156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8" name="표시순으로 자식 정렬"/>
            <p:cNvSpPr txBox="1"/>
            <p:nvPr/>
          </p:nvSpPr>
          <p:spPr>
            <a:xfrm>
              <a:off x="45738" y="74801"/>
              <a:ext cx="1529679" cy="161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>
                <a:defRPr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rPr>
                  <a:latin typeface="맑은 고딕"/>
                  <a:ea typeface="맑은 고딕"/>
                  <a:cs typeface="맑은 고딕"/>
                  <a:sym typeface="맑은 고딕"/>
                </a:rPr>
                <a:t>표시순으로 자식 정렬</a:t>
              </a:r>
            </a:p>
          </p:txBody>
        </p:sp>
      </p:grpSp>
      <p:grpSp>
        <p:nvGrpSpPr>
          <p:cNvPr id="482" name="Rounded Rectangle 7"/>
          <p:cNvGrpSpPr/>
          <p:nvPr/>
        </p:nvGrpSpPr>
        <p:grpSpPr>
          <a:xfrm>
            <a:off x="3027045" y="2615183"/>
            <a:ext cx="614363" cy="310897"/>
            <a:chOff x="0" y="0"/>
            <a:chExt cx="614362" cy="310895"/>
          </a:xfrm>
        </p:grpSpPr>
        <p:sp>
          <p:nvSpPr>
            <p:cNvPr id="480" name="모서리가 둥근 직사각형"/>
            <p:cNvSpPr/>
            <p:nvPr/>
          </p:nvSpPr>
          <p:spPr>
            <a:xfrm>
              <a:off x="0" y="0"/>
              <a:ext cx="614363" cy="310896"/>
            </a:xfrm>
            <a:prstGeom prst="roundRect">
              <a:avLst>
                <a:gd name="adj" fmla="val 45000"/>
              </a:avLst>
            </a:prstGeom>
            <a:solidFill>
              <a:srgbClr val="EFF6FF"/>
            </a:solidFill>
            <a:ln w="9525" cap="flat">
              <a:solidFill>
                <a:srgbClr val="DBEAF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1" name="⇧⌘K"/>
            <p:cNvSpPr txBox="1"/>
            <p:nvPr/>
          </p:nvSpPr>
          <p:spPr>
            <a:xfrm>
              <a:off x="45738" y="78038"/>
              <a:ext cx="522886" cy="154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62556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⇧⌘K</a:t>
              </a:r>
            </a:p>
          </p:txBody>
        </p:sp>
      </p:grpSp>
      <p:sp>
        <p:nvSpPr>
          <p:cNvPr id="483" name="Oval 8"/>
          <p:cNvSpPr/>
          <p:nvPr/>
        </p:nvSpPr>
        <p:spPr>
          <a:xfrm>
            <a:off x="603504" y="3323844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9"/>
          <p:cNvSpPr txBox="1"/>
          <p:nvPr/>
        </p:nvSpPr>
        <p:spPr>
          <a:xfrm>
            <a:off x="841248" y="3218687"/>
            <a:ext cx="4251960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컨테이너 우클릭 </a:t>
            </a:r>
            <a:r>
              <a:t>›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표시순으로 자식 정렬 </a:t>
            </a:r>
            <a:r>
              <a:t>(⇧⌘K)</a:t>
            </a:r>
          </a:p>
        </p:txBody>
      </p:sp>
      <p:sp>
        <p:nvSpPr>
          <p:cNvPr id="485" name="Oval 10"/>
          <p:cNvSpPr/>
          <p:nvPr/>
        </p:nvSpPr>
        <p:spPr>
          <a:xfrm>
            <a:off x="603504" y="3717035"/>
            <a:ext cx="77725" cy="77725"/>
          </a:xfrm>
          <a:prstGeom prst="ellipse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11"/>
          <p:cNvSpPr txBox="1"/>
          <p:nvPr/>
        </p:nvSpPr>
        <p:spPr>
          <a:xfrm>
            <a:off x="841248" y="3611879"/>
            <a:ext cx="42519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스크린리더 읽기 순서와 키보드 탭 이동 순서가 화면과 같아집니다</a:t>
            </a:r>
            <a:r>
              <a:t>.</a:t>
            </a:r>
          </a:p>
        </p:txBody>
      </p:sp>
      <p:sp>
        <p:nvSpPr>
          <p:cNvPr id="487" name="Rectangle 12"/>
          <p:cNvSpPr/>
          <p:nvPr/>
        </p:nvSpPr>
        <p:spPr>
          <a:xfrm>
            <a:off x="566928" y="4361688"/>
            <a:ext cx="4526280" cy="27433"/>
          </a:xfrm>
          <a:prstGeom prst="rect">
            <a:avLst/>
          </a:prstGeom>
          <a:solidFill>
            <a:srgbClr val="E4E4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13"/>
          <p:cNvSpPr txBox="1"/>
          <p:nvPr/>
        </p:nvSpPr>
        <p:spPr>
          <a:xfrm>
            <a:off x="566928" y="4544567"/>
            <a:ext cx="452628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접근성 준수 프로젝트이므로 전환한 모든 컨테이너에서 수행합니다</a:t>
            </a:r>
            <a:r>
              <a:t>.</a:t>
            </a:r>
          </a:p>
        </p:txBody>
      </p:sp>
      <p:pic>
        <p:nvPicPr>
          <p:cNvPr id="489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3050" y="960119"/>
            <a:ext cx="3546330" cy="5074922"/>
          </a:xfrm>
          <a:prstGeom prst="rect">
            <a:avLst/>
          </a:prstGeom>
          <a:ln>
            <a:solidFill>
              <a:srgbClr val="E4E4E7"/>
            </a:solidFill>
          </a:ln>
        </p:spPr>
      </p:pic>
      <p:sp>
        <p:nvSpPr>
          <p:cNvPr id="490" name="TextBox 15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③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접근성</a:t>
            </a:r>
          </a:p>
        </p:txBody>
      </p:sp>
      <p:sp>
        <p:nvSpPr>
          <p:cNvPr id="491" name="TextBox 16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22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Rectangle 1"/>
          <p:cNvSpPr/>
          <p:nvPr/>
        </p:nvSpPr>
        <p:spPr>
          <a:xfrm>
            <a:off x="-1" y="-1"/>
            <a:ext cx="12191697" cy="91442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2"/>
          <p:cNvSpPr txBox="1"/>
          <p:nvPr/>
        </p:nvSpPr>
        <p:spPr>
          <a:xfrm>
            <a:off x="566927" y="457200"/>
            <a:ext cx="7315201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55DF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EXCEPTIONS &amp; CHECKLIST</a:t>
            </a:r>
          </a:p>
        </p:txBody>
      </p:sp>
      <p:sp>
        <p:nvSpPr>
          <p:cNvPr id="495" name="TextBox 3"/>
          <p:cNvSpPr txBox="1"/>
          <p:nvPr/>
        </p:nvSpPr>
        <p:spPr>
          <a:xfrm>
            <a:off x="566927" y="758951"/>
            <a:ext cx="8229601" cy="483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예외 케이스와 확인 목록</a:t>
            </a:r>
          </a:p>
        </p:txBody>
      </p:sp>
      <p:sp>
        <p:nvSpPr>
          <p:cNvPr id="496" name="Rectangle 4"/>
          <p:cNvSpPr/>
          <p:nvPr/>
        </p:nvSpPr>
        <p:spPr>
          <a:xfrm>
            <a:off x="566927" y="1691639"/>
            <a:ext cx="5532122" cy="1481329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Rectangle 5"/>
          <p:cNvSpPr/>
          <p:nvPr/>
        </p:nvSpPr>
        <p:spPr>
          <a:xfrm>
            <a:off x="566927" y="1691639"/>
            <a:ext cx="45721" cy="1481329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TextBox 6"/>
          <p:cNvSpPr txBox="1"/>
          <p:nvPr/>
        </p:nvSpPr>
        <p:spPr>
          <a:xfrm>
            <a:off x="868680" y="1929383"/>
            <a:ext cx="5029201" cy="868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루트를 버티컬 레이아웃으로 두는 화면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그리드를 꽉 채우지 않고 고정 높이로 세로 나열하는 화면입니다</a:t>
            </a:r>
            <a:r>
              <a:t>.</a:t>
            </a:r>
          </a:p>
          <a:p>
            <a:pPr>
              <a:lnSpc>
                <a:spcPct val="150000"/>
              </a:lnSpc>
              <a:spcBef>
                <a:spcPts val="700"/>
              </a:spcBef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컨테이너의 </a:t>
            </a:r>
            <a:r>
              <a:t>margin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값만 </a:t>
            </a:r>
            <a:r>
              <a:t>20px 34px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설정하고</a:t>
            </a:r>
            <a:r>
              <a:t>,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레이아웃은 바꾸지 않습니다</a:t>
            </a:r>
            <a:r>
              <a:t>.</a:t>
            </a:r>
          </a:p>
        </p:txBody>
      </p:sp>
      <p:sp>
        <p:nvSpPr>
          <p:cNvPr id="499" name="Rectangle 7"/>
          <p:cNvSpPr/>
          <p:nvPr/>
        </p:nvSpPr>
        <p:spPr>
          <a:xfrm>
            <a:off x="6309359" y="1691639"/>
            <a:ext cx="5321809" cy="1481329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Rectangle 8"/>
          <p:cNvSpPr/>
          <p:nvPr/>
        </p:nvSpPr>
        <p:spPr>
          <a:xfrm>
            <a:off x="6309359" y="1691639"/>
            <a:ext cx="45721" cy="1481329"/>
          </a:xfrm>
          <a:prstGeom prst="rect">
            <a:avLst/>
          </a:prstGeom>
          <a:solidFill>
            <a:srgbClr val="155D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1" name="TextBox 9"/>
          <p:cNvSpPr txBox="1"/>
          <p:nvPr/>
        </p:nvSpPr>
        <p:spPr>
          <a:xfrm>
            <a:off x="6611111" y="1929383"/>
            <a:ext cx="4846322" cy="868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6255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팝업 화면</a:t>
            </a:r>
            <a:endParaRPr>
              <a:latin typeface="맑은 고딕"/>
              <a:ea typeface="맑은 고딕"/>
              <a:cs typeface="맑은 고딕"/>
              <a:sym typeface="맑은 고딕"/>
            </a:endParaRPr>
          </a:p>
          <a:p>
            <a:pPr>
              <a:lnSpc>
                <a:spcPct val="150000"/>
              </a:lnSpc>
              <a:spcBef>
                <a:spcPts val="700"/>
              </a:spcBef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전환 방법은 일반화면과 완전히 동일합니다</a:t>
            </a:r>
            <a:r>
              <a:t>.</a:t>
            </a:r>
          </a:p>
          <a:p>
            <a:pPr>
              <a:lnSpc>
                <a:spcPct val="150000"/>
              </a:lnSpc>
              <a:spcBef>
                <a:spcPts val="700"/>
              </a:spcBef>
              <a:defRPr sz="12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단</a:t>
            </a:r>
            <a:r>
              <a:t>,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컨테이너에 </a:t>
            </a:r>
            <a:r>
              <a:t>margin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값을 넣지 않습니다</a:t>
            </a:r>
            <a:r>
              <a:t>.</a:t>
            </a:r>
          </a:p>
        </p:txBody>
      </p:sp>
      <p:sp>
        <p:nvSpPr>
          <p:cNvPr id="502" name="Rectangle 10"/>
          <p:cNvSpPr/>
          <p:nvPr/>
        </p:nvSpPr>
        <p:spPr>
          <a:xfrm>
            <a:off x="566927" y="3520440"/>
            <a:ext cx="11064242" cy="2331721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TextBox 11"/>
          <p:cNvSpPr txBox="1"/>
          <p:nvPr/>
        </p:nvSpPr>
        <p:spPr>
          <a:xfrm>
            <a:off x="896112" y="3776471"/>
            <a:ext cx="10424160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16255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수정 후 확인</a:t>
            </a:r>
          </a:p>
        </p:txBody>
      </p:sp>
      <p:sp>
        <p:nvSpPr>
          <p:cNvPr id="504" name="Rounded Rectangle 12"/>
          <p:cNvSpPr/>
          <p:nvPr/>
        </p:nvSpPr>
        <p:spPr>
          <a:xfrm>
            <a:off x="896111" y="4192523"/>
            <a:ext cx="201169" cy="20116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55DF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TextBox 13"/>
          <p:cNvSpPr txBox="1"/>
          <p:nvPr/>
        </p:nvSpPr>
        <p:spPr>
          <a:xfrm>
            <a:off x="1243583" y="4178808"/>
            <a:ext cx="475488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로 지정한 모든 행에 자동 크기 사용이 체크되어 있다 </a:t>
            </a:r>
            <a:r>
              <a:t>(60 · 132 · 36)</a:t>
            </a:r>
          </a:p>
        </p:txBody>
      </p:sp>
      <p:sp>
        <p:nvSpPr>
          <p:cNvPr id="506" name="Rounded Rectangle 14"/>
          <p:cNvSpPr/>
          <p:nvPr/>
        </p:nvSpPr>
        <p:spPr>
          <a:xfrm>
            <a:off x="6199630" y="4192523"/>
            <a:ext cx="201169" cy="20116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55DF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TextBox 15"/>
          <p:cNvSpPr txBox="1"/>
          <p:nvPr/>
        </p:nvSpPr>
        <p:spPr>
          <a:xfrm>
            <a:off x="6547102" y="4178808"/>
            <a:ext cx="475488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루트 여백이 </a:t>
            </a:r>
            <a:r>
              <a:t>20px 34px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다 </a:t>
            </a:r>
            <a:r>
              <a:t>(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팝업은 여백 없음</a:t>
            </a:r>
            <a:r>
              <a:t>)</a:t>
            </a:r>
          </a:p>
        </p:txBody>
      </p:sp>
      <p:sp>
        <p:nvSpPr>
          <p:cNvPr id="508" name="Rounded Rectangle 16"/>
          <p:cNvSpPr/>
          <p:nvPr/>
        </p:nvSpPr>
        <p:spPr>
          <a:xfrm>
            <a:off x="896111" y="4668011"/>
            <a:ext cx="201169" cy="20116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55DF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TextBox 17"/>
          <p:cNvSpPr txBox="1"/>
          <p:nvPr/>
        </p:nvSpPr>
        <p:spPr>
          <a:xfrm>
            <a:off x="1243583" y="4654296"/>
            <a:ext cx="475488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.content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간격이 가로 </a:t>
            </a:r>
            <a:r>
              <a:t>24px ·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세로 </a:t>
            </a:r>
            <a:r>
              <a:t>18px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다</a:t>
            </a:r>
          </a:p>
        </p:txBody>
      </p:sp>
      <p:sp>
        <p:nvSpPr>
          <p:cNvPr id="510" name="Rounded Rectangle 18"/>
          <p:cNvSpPr/>
          <p:nvPr/>
        </p:nvSpPr>
        <p:spPr>
          <a:xfrm>
            <a:off x="6199630" y="4668011"/>
            <a:ext cx="201169" cy="20116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55DF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1" name="TextBox 19"/>
          <p:cNvSpPr txBox="1"/>
          <p:nvPr/>
        </p:nvSpPr>
        <p:spPr>
          <a:xfrm>
            <a:off x="6547102" y="4654296"/>
            <a:ext cx="475488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그리드가 들어간 행이 </a:t>
            </a:r>
            <a:r>
              <a:t>1 FR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이고</a:t>
            </a:r>
            <a:r>
              <a:t>,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브라우저에서 화면 끝까지 채워진다</a:t>
            </a:r>
          </a:p>
        </p:txBody>
      </p:sp>
      <p:sp>
        <p:nvSpPr>
          <p:cNvPr id="512" name="Rounded Rectangle 20"/>
          <p:cNvSpPr/>
          <p:nvPr/>
        </p:nvSpPr>
        <p:spPr>
          <a:xfrm>
            <a:off x="896111" y="5143500"/>
            <a:ext cx="201169" cy="20116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55DF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TextBox 21"/>
          <p:cNvSpPr txBox="1"/>
          <p:nvPr/>
        </p:nvSpPr>
        <p:spPr>
          <a:xfrm>
            <a:off x="1243583" y="5129784"/>
            <a:ext cx="475488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100">
                <a:solidFill>
                  <a:srgbClr val="3F3F4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전환한 컨테이너마다 표시순으로 자식 정렬을 수행했다</a:t>
            </a:r>
          </a:p>
        </p:txBody>
      </p:sp>
      <p:sp>
        <p:nvSpPr>
          <p:cNvPr id="514" name="Rounded Rectangle 22"/>
          <p:cNvSpPr/>
          <p:nvPr/>
        </p:nvSpPr>
        <p:spPr>
          <a:xfrm>
            <a:off x="6199630" y="5143500"/>
            <a:ext cx="201169" cy="201169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55DFC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TextBox 23"/>
          <p:cNvSpPr txBox="1"/>
          <p:nvPr/>
        </p:nvSpPr>
        <p:spPr>
          <a:xfrm>
            <a:off x="6547102" y="5129784"/>
            <a:ext cx="4754881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3F3F4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1024px </a:t>
            </a: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폭으로 줄였을 때 레이아웃이 깨지지 않는다</a:t>
            </a:r>
          </a:p>
        </p:txBody>
      </p:sp>
      <p:sp>
        <p:nvSpPr>
          <p:cNvPr id="516" name="TextBox 24"/>
          <p:cNvSpPr txBox="1"/>
          <p:nvPr/>
        </p:nvSpPr>
        <p:spPr>
          <a:xfrm>
            <a:off x="566927" y="6327647"/>
            <a:ext cx="5486401" cy="14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71717A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>
              <a:defRPr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rPr>
                <a:latin typeface="맑은 고딕"/>
                <a:ea typeface="맑은 고딕"/>
                <a:cs typeface="맑은 고딕"/>
                <a:sym typeface="맑은 고딕"/>
              </a:rPr>
              <a:t>화면 레이아웃 수정 방법</a:t>
            </a:r>
          </a:p>
        </p:txBody>
      </p:sp>
      <p:sp>
        <p:nvSpPr>
          <p:cNvPr id="517" name="TextBox 25"/>
          <p:cNvSpPr txBox="1"/>
          <p:nvPr/>
        </p:nvSpPr>
        <p:spPr>
          <a:xfrm>
            <a:off x="10058400" y="6327647"/>
            <a:ext cx="15727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1717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23 / 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